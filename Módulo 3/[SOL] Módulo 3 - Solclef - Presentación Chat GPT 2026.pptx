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  <p:sldMasterId id="2147483674" r:id="rId3"/>
  </p:sldMasterIdLst>
  <p:notesMasterIdLst>
    <p:notesMasterId r:id="rId38"/>
  </p:notesMasterIdLst>
  <p:sldIdLst>
    <p:sldId id="256" r:id="rId4"/>
    <p:sldId id="258" r:id="rId5"/>
    <p:sldId id="259" r:id="rId6"/>
    <p:sldId id="418" r:id="rId7"/>
    <p:sldId id="419" r:id="rId8"/>
    <p:sldId id="420" r:id="rId9"/>
    <p:sldId id="421" r:id="rId10"/>
    <p:sldId id="422" r:id="rId11"/>
    <p:sldId id="353" r:id="rId12"/>
    <p:sldId id="354" r:id="rId13"/>
    <p:sldId id="382" r:id="rId14"/>
    <p:sldId id="355" r:id="rId15"/>
    <p:sldId id="383" r:id="rId16"/>
    <p:sldId id="357" r:id="rId17"/>
    <p:sldId id="385" r:id="rId18"/>
    <p:sldId id="359" r:id="rId19"/>
    <p:sldId id="361" r:id="rId20"/>
    <p:sldId id="384" r:id="rId21"/>
    <p:sldId id="362" r:id="rId22"/>
    <p:sldId id="390" r:id="rId23"/>
    <p:sldId id="363" r:id="rId24"/>
    <p:sldId id="391" r:id="rId25"/>
    <p:sldId id="364" r:id="rId26"/>
    <p:sldId id="392" r:id="rId27"/>
    <p:sldId id="365" r:id="rId28"/>
    <p:sldId id="286" r:id="rId29"/>
    <p:sldId id="394" r:id="rId30"/>
    <p:sldId id="397" r:id="rId31"/>
    <p:sldId id="396" r:id="rId32"/>
    <p:sldId id="399" r:id="rId33"/>
    <p:sldId id="400" r:id="rId34"/>
    <p:sldId id="393" r:id="rId35"/>
    <p:sldId id="280" r:id="rId36"/>
    <p:sldId id="326" r:id="rId37"/>
  </p:sldIdLst>
  <p:sldSz cx="9144000" cy="5143500" type="screen16x9"/>
  <p:notesSz cx="51435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C38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94" d="100"/>
          <a:sy n="94" d="100"/>
        </p:scale>
        <p:origin x="77" y="2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himy Lulieth Rincón" userId="71b285f3-22a3-4fb9-b62e-eff2b3461126" providerId="ADAL" clId="{94043772-BAF2-4149-A201-D8F0896DE0FA}"/>
    <pc:docChg chg="undo custSel addSld delSld modSld sldOrd modMainMaster">
      <pc:chgData name="Yehimy Lulieth Rincón" userId="71b285f3-22a3-4fb9-b62e-eff2b3461126" providerId="ADAL" clId="{94043772-BAF2-4149-A201-D8F0896DE0FA}" dt="2026-03-20T10:45:25.050" v="4113" actId="2696"/>
      <pc:docMkLst>
        <pc:docMk/>
      </pc:docMkLst>
      <pc:sldChg chg="del">
        <pc:chgData name="Yehimy Lulieth Rincón" userId="71b285f3-22a3-4fb9-b62e-eff2b3461126" providerId="ADAL" clId="{94043772-BAF2-4149-A201-D8F0896DE0FA}" dt="2026-03-19T16:45:04.874" v="4110" actId="47"/>
        <pc:sldMkLst>
          <pc:docMk/>
          <pc:sldMk cId="0" sldId="257"/>
        </pc:sldMkLst>
      </pc:sldChg>
      <pc:sldChg chg="modSp mod">
        <pc:chgData name="Yehimy Lulieth Rincón" userId="71b285f3-22a3-4fb9-b62e-eff2b3461126" providerId="ADAL" clId="{94043772-BAF2-4149-A201-D8F0896DE0FA}" dt="2026-03-17T01:35:25.482" v="4082" actId="113"/>
        <pc:sldMkLst>
          <pc:docMk/>
          <pc:sldMk cId="0" sldId="259"/>
        </pc:sldMkLst>
        <pc:spChg chg="mod">
          <ac:chgData name="Yehimy Lulieth Rincón" userId="71b285f3-22a3-4fb9-b62e-eff2b3461126" providerId="ADAL" clId="{94043772-BAF2-4149-A201-D8F0896DE0FA}" dt="2026-03-17T01:34:11.310" v="4066" actId="1076"/>
          <ac:spMkLst>
            <pc:docMk/>
            <pc:sldMk cId="0" sldId="259"/>
            <ac:spMk id="7" creationId="{ECD312B3-910A-C9DC-453B-5A710E68463D}"/>
          </ac:spMkLst>
        </pc:spChg>
        <pc:spChg chg="mod">
          <ac:chgData name="Yehimy Lulieth Rincón" userId="71b285f3-22a3-4fb9-b62e-eff2b3461126" providerId="ADAL" clId="{94043772-BAF2-4149-A201-D8F0896DE0FA}" dt="2026-03-17T01:34:22.076" v="4075" actId="1036"/>
          <ac:spMkLst>
            <pc:docMk/>
            <pc:sldMk cId="0" sldId="259"/>
            <ac:spMk id="14" creationId="{B215FD1B-27FC-919A-5D70-D58E1779AF8E}"/>
          </ac:spMkLst>
        </pc:spChg>
        <pc:spChg chg="mod">
          <ac:chgData name="Yehimy Lulieth Rincón" userId="71b285f3-22a3-4fb9-b62e-eff2b3461126" providerId="ADAL" clId="{94043772-BAF2-4149-A201-D8F0896DE0FA}" dt="2026-03-17T01:34:40.325" v="4077"/>
          <ac:spMkLst>
            <pc:docMk/>
            <pc:sldMk cId="0" sldId="259"/>
            <ac:spMk id="16" creationId="{B47C18BE-DD4A-B1F4-9C7F-066351593611}"/>
          </ac:spMkLst>
        </pc:spChg>
        <pc:spChg chg="mod">
          <ac:chgData name="Yehimy Lulieth Rincón" userId="71b285f3-22a3-4fb9-b62e-eff2b3461126" providerId="ADAL" clId="{94043772-BAF2-4149-A201-D8F0896DE0FA}" dt="2026-03-17T01:34:31.660" v="4076"/>
          <ac:spMkLst>
            <pc:docMk/>
            <pc:sldMk cId="0" sldId="259"/>
            <ac:spMk id="17" creationId="{329C4D66-395A-C961-EC81-3940951D9C7C}"/>
          </ac:spMkLst>
        </pc:spChg>
        <pc:spChg chg="mod">
          <ac:chgData name="Yehimy Lulieth Rincón" userId="71b285f3-22a3-4fb9-b62e-eff2b3461126" providerId="ADAL" clId="{94043772-BAF2-4149-A201-D8F0896DE0FA}" dt="2026-03-17T01:34:58.509" v="4079"/>
          <ac:spMkLst>
            <pc:docMk/>
            <pc:sldMk cId="0" sldId="259"/>
            <ac:spMk id="18" creationId="{B3832A90-88A9-0B27-C280-A6A5D230971F}"/>
          </ac:spMkLst>
        </pc:spChg>
        <pc:spChg chg="mod">
          <ac:chgData name="Yehimy Lulieth Rincón" userId="71b285f3-22a3-4fb9-b62e-eff2b3461126" providerId="ADAL" clId="{94043772-BAF2-4149-A201-D8F0896DE0FA}" dt="2026-03-17T01:33:28.393" v="4059" actId="1076"/>
          <ac:spMkLst>
            <pc:docMk/>
            <pc:sldMk cId="0" sldId="259"/>
            <ac:spMk id="19" creationId="{8A7AD391-B6FA-DDB7-B9CA-FFDBC1861E06}"/>
          </ac:spMkLst>
        </pc:spChg>
        <pc:spChg chg="mod">
          <ac:chgData name="Yehimy Lulieth Rincón" userId="71b285f3-22a3-4fb9-b62e-eff2b3461126" providerId="ADAL" clId="{94043772-BAF2-4149-A201-D8F0896DE0FA}" dt="2026-03-17T01:34:22.076" v="4075" actId="1036"/>
          <ac:spMkLst>
            <pc:docMk/>
            <pc:sldMk cId="0" sldId="259"/>
            <ac:spMk id="20" creationId="{874D6384-50AC-D368-8BF7-D98885B4EDAD}"/>
          </ac:spMkLst>
        </pc:spChg>
        <pc:spChg chg="mod">
          <ac:chgData name="Yehimy Lulieth Rincón" userId="71b285f3-22a3-4fb9-b62e-eff2b3461126" providerId="ADAL" clId="{94043772-BAF2-4149-A201-D8F0896DE0FA}" dt="2026-03-17T01:34:22.076" v="4075" actId="1036"/>
          <ac:spMkLst>
            <pc:docMk/>
            <pc:sldMk cId="0" sldId="259"/>
            <ac:spMk id="21" creationId="{CA2EE6B7-2DFC-B578-A201-7CEDF90EEA5B}"/>
          </ac:spMkLst>
        </pc:spChg>
        <pc:spChg chg="mod">
          <ac:chgData name="Yehimy Lulieth Rincón" userId="71b285f3-22a3-4fb9-b62e-eff2b3461126" providerId="ADAL" clId="{94043772-BAF2-4149-A201-D8F0896DE0FA}" dt="2026-03-17T01:34:49.558" v="4078"/>
          <ac:spMkLst>
            <pc:docMk/>
            <pc:sldMk cId="0" sldId="259"/>
            <ac:spMk id="28" creationId="{48F665FB-D5F6-54D4-0DED-CFEE37C450B0}"/>
          </ac:spMkLst>
        </pc:spChg>
        <pc:spChg chg="mod">
          <ac:chgData name="Yehimy Lulieth Rincón" userId="71b285f3-22a3-4fb9-b62e-eff2b3461126" providerId="ADAL" clId="{94043772-BAF2-4149-A201-D8F0896DE0FA}" dt="2026-03-17T01:35:25.482" v="4082" actId="113"/>
          <ac:spMkLst>
            <pc:docMk/>
            <pc:sldMk cId="0" sldId="259"/>
            <ac:spMk id="29" creationId="{09C24FE0-B1BE-1B93-4C6D-B996CB5BA985}"/>
          </ac:spMkLst>
        </pc:spChg>
        <pc:spChg chg="mod">
          <ac:chgData name="Yehimy Lulieth Rincón" userId="71b285f3-22a3-4fb9-b62e-eff2b3461126" providerId="ADAL" clId="{94043772-BAF2-4149-A201-D8F0896DE0FA}" dt="2026-03-17T01:35:06.221" v="4080"/>
          <ac:spMkLst>
            <pc:docMk/>
            <pc:sldMk cId="0" sldId="259"/>
            <ac:spMk id="30" creationId="{4006B0AB-BA1D-2DDE-B1FA-416927BB54A6}"/>
          </ac:spMkLst>
        </pc:spChg>
      </pc:sldChg>
      <pc:sldChg chg="modSp mod">
        <pc:chgData name="Yehimy Lulieth Rincón" userId="71b285f3-22a3-4fb9-b62e-eff2b3461126" providerId="ADAL" clId="{94043772-BAF2-4149-A201-D8F0896DE0FA}" dt="2026-03-16T20:26:42.152" v="3224" actId="1076"/>
        <pc:sldMkLst>
          <pc:docMk/>
          <pc:sldMk cId="895650394" sldId="353"/>
        </pc:sldMkLst>
        <pc:spChg chg="mod">
          <ac:chgData name="Yehimy Lulieth Rincón" userId="71b285f3-22a3-4fb9-b62e-eff2b3461126" providerId="ADAL" clId="{94043772-BAF2-4149-A201-D8F0896DE0FA}" dt="2026-03-16T20:26:39.135" v="3223" actId="1076"/>
          <ac:spMkLst>
            <pc:docMk/>
            <pc:sldMk cId="895650394" sldId="353"/>
            <ac:spMk id="2" creationId="{D1F66A38-3514-D3C8-FB16-BDCB1DD7C7DD}"/>
          </ac:spMkLst>
        </pc:spChg>
        <pc:spChg chg="mod">
          <ac:chgData name="Yehimy Lulieth Rincón" userId="71b285f3-22a3-4fb9-b62e-eff2b3461126" providerId="ADAL" clId="{94043772-BAF2-4149-A201-D8F0896DE0FA}" dt="2026-03-16T20:26:42.152" v="3224" actId="1076"/>
          <ac:spMkLst>
            <pc:docMk/>
            <pc:sldMk cId="895650394" sldId="353"/>
            <ac:spMk id="3" creationId="{EEC066BA-A8A2-9ADE-D4EE-48393B1570DA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20:28:37.904" v="3246" actId="1076"/>
        <pc:sldMkLst>
          <pc:docMk/>
          <pc:sldMk cId="2836506006" sldId="354"/>
        </pc:sldMkLst>
        <pc:spChg chg="mod">
          <ac:chgData name="Yehimy Lulieth Rincón" userId="71b285f3-22a3-4fb9-b62e-eff2b3461126" providerId="ADAL" clId="{94043772-BAF2-4149-A201-D8F0896DE0FA}" dt="2026-03-16T20:28:33.643" v="3245" actId="1076"/>
          <ac:spMkLst>
            <pc:docMk/>
            <pc:sldMk cId="2836506006" sldId="354"/>
            <ac:spMk id="2" creationId="{8DDE9111-44D1-F111-2661-E23BDEF7673A}"/>
          </ac:spMkLst>
        </pc:spChg>
        <pc:spChg chg="mod">
          <ac:chgData name="Yehimy Lulieth Rincón" userId="71b285f3-22a3-4fb9-b62e-eff2b3461126" providerId="ADAL" clId="{94043772-BAF2-4149-A201-D8F0896DE0FA}" dt="2026-03-16T12:36:52.390" v="3122" actId="1076"/>
          <ac:spMkLst>
            <pc:docMk/>
            <pc:sldMk cId="2836506006" sldId="354"/>
            <ac:spMk id="3" creationId="{828721D9-DD15-CE1D-028F-529A606714CA}"/>
          </ac:spMkLst>
        </pc:spChg>
        <pc:spChg chg="add mod">
          <ac:chgData name="Yehimy Lulieth Rincón" userId="71b285f3-22a3-4fb9-b62e-eff2b3461126" providerId="ADAL" clId="{94043772-BAF2-4149-A201-D8F0896DE0FA}" dt="2026-03-16T20:28:33.643" v="3245" actId="1076"/>
          <ac:spMkLst>
            <pc:docMk/>
            <pc:sldMk cId="2836506006" sldId="354"/>
            <ac:spMk id="4" creationId="{CB2045E2-0653-AAE6-2CA0-B4C6E8216AA2}"/>
          </ac:spMkLst>
        </pc:spChg>
        <pc:spChg chg="mod">
          <ac:chgData name="Yehimy Lulieth Rincón" userId="71b285f3-22a3-4fb9-b62e-eff2b3461126" providerId="ADAL" clId="{94043772-BAF2-4149-A201-D8F0896DE0FA}" dt="2026-03-16T20:28:37.904" v="3246" actId="1076"/>
          <ac:spMkLst>
            <pc:docMk/>
            <pc:sldMk cId="2836506006" sldId="354"/>
            <ac:spMk id="8" creationId="{4B519389-6717-6C2E-29AD-78E3A9B6309E}"/>
          </ac:spMkLst>
        </pc:spChg>
        <pc:spChg chg="mod">
          <ac:chgData name="Yehimy Lulieth Rincón" userId="71b285f3-22a3-4fb9-b62e-eff2b3461126" providerId="ADAL" clId="{94043772-BAF2-4149-A201-D8F0896DE0FA}" dt="2026-03-16T20:28:37.904" v="3246" actId="1076"/>
          <ac:spMkLst>
            <pc:docMk/>
            <pc:sldMk cId="2836506006" sldId="354"/>
            <ac:spMk id="9" creationId="{4F46DCD0-A295-095B-D4E5-3305F90D1B7E}"/>
          </ac:spMkLst>
        </pc:spChg>
        <pc:spChg chg="mod">
          <ac:chgData name="Yehimy Lulieth Rincón" userId="71b285f3-22a3-4fb9-b62e-eff2b3461126" providerId="ADAL" clId="{94043772-BAF2-4149-A201-D8F0896DE0FA}" dt="2026-03-16T20:28:37.904" v="3246" actId="1076"/>
          <ac:spMkLst>
            <pc:docMk/>
            <pc:sldMk cId="2836506006" sldId="354"/>
            <ac:spMk id="14" creationId="{DD302258-AB06-4633-B451-42FC816F28ED}"/>
          </ac:spMkLst>
        </pc:spChg>
        <pc:spChg chg="mod">
          <ac:chgData name="Yehimy Lulieth Rincón" userId="71b285f3-22a3-4fb9-b62e-eff2b3461126" providerId="ADAL" clId="{94043772-BAF2-4149-A201-D8F0896DE0FA}" dt="2026-03-16T20:28:37.904" v="3246" actId="1076"/>
          <ac:spMkLst>
            <pc:docMk/>
            <pc:sldMk cId="2836506006" sldId="354"/>
            <ac:spMk id="18" creationId="{74E53BEF-D411-3BF4-068D-103F00DA3BBF}"/>
          </ac:spMkLst>
        </pc:spChg>
        <pc:cxnChg chg="mod">
          <ac:chgData name="Yehimy Lulieth Rincón" userId="71b285f3-22a3-4fb9-b62e-eff2b3461126" providerId="ADAL" clId="{94043772-BAF2-4149-A201-D8F0896DE0FA}" dt="2026-03-16T20:28:37.904" v="3246" actId="1076"/>
          <ac:cxnSpMkLst>
            <pc:docMk/>
            <pc:sldMk cId="2836506006" sldId="354"/>
            <ac:cxnSpMk id="16" creationId="{3F1748E5-E96F-D913-E008-AA8810193B5D}"/>
          </ac:cxnSpMkLst>
        </pc:cxnChg>
      </pc:sldChg>
      <pc:sldChg chg="modSp mod">
        <pc:chgData name="Yehimy Lulieth Rincón" userId="71b285f3-22a3-4fb9-b62e-eff2b3461126" providerId="ADAL" clId="{94043772-BAF2-4149-A201-D8F0896DE0FA}" dt="2026-03-16T20:49:10.498" v="3325" actId="1076"/>
        <pc:sldMkLst>
          <pc:docMk/>
          <pc:sldMk cId="2378215482" sldId="357"/>
        </pc:sldMkLst>
        <pc:spChg chg="mod">
          <ac:chgData name="Yehimy Lulieth Rincón" userId="71b285f3-22a3-4fb9-b62e-eff2b3461126" providerId="ADAL" clId="{94043772-BAF2-4149-A201-D8F0896DE0FA}" dt="2026-03-16T20:49:10.498" v="3325" actId="1076"/>
          <ac:spMkLst>
            <pc:docMk/>
            <pc:sldMk cId="2378215482" sldId="357"/>
            <ac:spMk id="2" creationId="{0CEB6840-5593-E9DD-6308-13D77772F313}"/>
          </ac:spMkLst>
        </pc:spChg>
        <pc:spChg chg="mod">
          <ac:chgData name="Yehimy Lulieth Rincón" userId="71b285f3-22a3-4fb9-b62e-eff2b3461126" providerId="ADAL" clId="{94043772-BAF2-4149-A201-D8F0896DE0FA}" dt="2026-03-16T20:48:09.190" v="3248" actId="14100"/>
          <ac:spMkLst>
            <pc:docMk/>
            <pc:sldMk cId="2378215482" sldId="357"/>
            <ac:spMk id="3" creationId="{D6441A1B-3EC3-4DA7-C7B5-EE9BC2789432}"/>
          </ac:spMkLst>
        </pc:spChg>
      </pc:sldChg>
      <pc:sldChg chg="modSp mod">
        <pc:chgData name="Yehimy Lulieth Rincón" userId="71b285f3-22a3-4fb9-b62e-eff2b3461126" providerId="ADAL" clId="{94043772-BAF2-4149-A201-D8F0896DE0FA}" dt="2026-03-16T22:05:34.384" v="3434" actId="1076"/>
        <pc:sldMkLst>
          <pc:docMk/>
          <pc:sldMk cId="820497361" sldId="359"/>
        </pc:sldMkLst>
        <pc:spChg chg="mod">
          <ac:chgData name="Yehimy Lulieth Rincón" userId="71b285f3-22a3-4fb9-b62e-eff2b3461126" providerId="ADAL" clId="{94043772-BAF2-4149-A201-D8F0896DE0FA}" dt="2026-03-16T22:05:31.974" v="3433" actId="1076"/>
          <ac:spMkLst>
            <pc:docMk/>
            <pc:sldMk cId="820497361" sldId="359"/>
            <ac:spMk id="2" creationId="{2C246B43-DA29-660E-2DF1-0D314BA496D2}"/>
          </ac:spMkLst>
        </pc:spChg>
        <pc:spChg chg="mod">
          <ac:chgData name="Yehimy Lulieth Rincón" userId="71b285f3-22a3-4fb9-b62e-eff2b3461126" providerId="ADAL" clId="{94043772-BAF2-4149-A201-D8F0896DE0FA}" dt="2026-03-16T22:05:34.384" v="3434" actId="1076"/>
          <ac:spMkLst>
            <pc:docMk/>
            <pc:sldMk cId="820497361" sldId="359"/>
            <ac:spMk id="3" creationId="{66DD8530-8BC3-86C6-DBF3-DE8F9A8BBF69}"/>
          </ac:spMkLst>
        </pc:spChg>
      </pc:sldChg>
      <pc:sldChg chg="modSp del mod">
        <pc:chgData name="Yehimy Lulieth Rincón" userId="71b285f3-22a3-4fb9-b62e-eff2b3461126" providerId="ADAL" clId="{94043772-BAF2-4149-A201-D8F0896DE0FA}" dt="2026-03-20T10:45:22.292" v="4112" actId="2696"/>
        <pc:sldMkLst>
          <pc:docMk/>
          <pc:sldMk cId="923375087" sldId="360"/>
        </pc:sldMkLst>
      </pc:sldChg>
      <pc:sldChg chg="delSp modSp mod ord">
        <pc:chgData name="Yehimy Lulieth Rincón" userId="71b285f3-22a3-4fb9-b62e-eff2b3461126" providerId="ADAL" clId="{94043772-BAF2-4149-A201-D8F0896DE0FA}" dt="2026-03-16T23:06:50.115" v="3554"/>
        <pc:sldMkLst>
          <pc:docMk/>
          <pc:sldMk cId="288447635" sldId="361"/>
        </pc:sldMkLst>
        <pc:spChg chg="mod">
          <ac:chgData name="Yehimy Lulieth Rincón" userId="71b285f3-22a3-4fb9-b62e-eff2b3461126" providerId="ADAL" clId="{94043772-BAF2-4149-A201-D8F0896DE0FA}" dt="2026-03-16T23:06:50.115" v="3554"/>
          <ac:spMkLst>
            <pc:docMk/>
            <pc:sldMk cId="288447635" sldId="361"/>
            <ac:spMk id="11" creationId="{EBE8FE59-293B-74E5-4441-492E37C0A87F}"/>
          </ac:spMkLst>
        </pc:spChg>
      </pc:sldChg>
      <pc:sldChg chg="modSp mod">
        <pc:chgData name="Yehimy Lulieth Rincón" userId="71b285f3-22a3-4fb9-b62e-eff2b3461126" providerId="ADAL" clId="{94043772-BAF2-4149-A201-D8F0896DE0FA}" dt="2026-03-16T23:31:54.219" v="3662" actId="1076"/>
        <pc:sldMkLst>
          <pc:docMk/>
          <pc:sldMk cId="4252631422" sldId="362"/>
        </pc:sldMkLst>
        <pc:spChg chg="mod">
          <ac:chgData name="Yehimy Lulieth Rincón" userId="71b285f3-22a3-4fb9-b62e-eff2b3461126" providerId="ADAL" clId="{94043772-BAF2-4149-A201-D8F0896DE0FA}" dt="2026-03-16T23:27:11.899" v="3584" actId="14100"/>
          <ac:spMkLst>
            <pc:docMk/>
            <pc:sldMk cId="4252631422" sldId="362"/>
            <ac:spMk id="3" creationId="{56221360-60F5-600B-2A24-7F36BF9793BE}"/>
          </ac:spMkLst>
        </pc:spChg>
        <pc:spChg chg="mod">
          <ac:chgData name="Yehimy Lulieth Rincón" userId="71b285f3-22a3-4fb9-b62e-eff2b3461126" providerId="ADAL" clId="{94043772-BAF2-4149-A201-D8F0896DE0FA}" dt="2026-03-16T23:31:54.219" v="3662" actId="1076"/>
          <ac:spMkLst>
            <pc:docMk/>
            <pc:sldMk cId="4252631422" sldId="362"/>
            <ac:spMk id="4" creationId="{C410CC7E-484D-227C-0F20-16DD904332E7}"/>
          </ac:spMkLst>
        </pc:spChg>
        <pc:spChg chg="mod">
          <ac:chgData name="Yehimy Lulieth Rincón" userId="71b285f3-22a3-4fb9-b62e-eff2b3461126" providerId="ADAL" clId="{94043772-BAF2-4149-A201-D8F0896DE0FA}" dt="2026-03-16T23:31:52.068" v="3661" actId="1076"/>
          <ac:spMkLst>
            <pc:docMk/>
            <pc:sldMk cId="4252631422" sldId="362"/>
            <ac:spMk id="6" creationId="{4A5CBE8C-8A62-99EF-9FDF-8D63116541B9}"/>
          </ac:spMkLst>
        </pc:spChg>
        <pc:spChg chg="mod">
          <ac:chgData name="Yehimy Lulieth Rincón" userId="71b285f3-22a3-4fb9-b62e-eff2b3461126" providerId="ADAL" clId="{94043772-BAF2-4149-A201-D8F0896DE0FA}" dt="2026-03-16T23:31:40.333" v="3655" actId="1076"/>
          <ac:spMkLst>
            <pc:docMk/>
            <pc:sldMk cId="4252631422" sldId="362"/>
            <ac:spMk id="8" creationId="{B763FCB5-5932-3AE0-531C-F3F5FF69BABA}"/>
          </ac:spMkLst>
        </pc:spChg>
        <pc:spChg chg="mod">
          <ac:chgData name="Yehimy Lulieth Rincón" userId="71b285f3-22a3-4fb9-b62e-eff2b3461126" providerId="ADAL" clId="{94043772-BAF2-4149-A201-D8F0896DE0FA}" dt="2026-03-16T23:31:40.333" v="3655" actId="1076"/>
          <ac:spMkLst>
            <pc:docMk/>
            <pc:sldMk cId="4252631422" sldId="362"/>
            <ac:spMk id="9" creationId="{DE7CC3DB-81A2-C522-6FDF-10D90444F2AB}"/>
          </ac:spMkLst>
        </pc:spChg>
        <pc:spChg chg="mod">
          <ac:chgData name="Yehimy Lulieth Rincón" userId="71b285f3-22a3-4fb9-b62e-eff2b3461126" providerId="ADAL" clId="{94043772-BAF2-4149-A201-D8F0896DE0FA}" dt="2026-03-16T23:31:52.068" v="3661" actId="1076"/>
          <ac:spMkLst>
            <pc:docMk/>
            <pc:sldMk cId="4252631422" sldId="362"/>
            <ac:spMk id="17" creationId="{3DA65918-ADDD-E59B-D02C-2471E001F088}"/>
          </ac:spMkLst>
        </pc:spChg>
        <pc:cxnChg chg="mod">
          <ac:chgData name="Yehimy Lulieth Rincón" userId="71b285f3-22a3-4fb9-b62e-eff2b3461126" providerId="ADAL" clId="{94043772-BAF2-4149-A201-D8F0896DE0FA}" dt="2026-03-16T23:31:40.333" v="3655" actId="1076"/>
          <ac:cxnSpMkLst>
            <pc:docMk/>
            <pc:sldMk cId="4252631422" sldId="362"/>
            <ac:cxnSpMk id="16" creationId="{9EB4E5D0-E7EC-D0A7-0AE1-758A2D8EC28D}"/>
          </ac:cxnSpMkLst>
        </pc:cxnChg>
      </pc:sldChg>
      <pc:sldChg chg="modSp mod">
        <pc:chgData name="Yehimy Lulieth Rincón" userId="71b285f3-22a3-4fb9-b62e-eff2b3461126" providerId="ADAL" clId="{94043772-BAF2-4149-A201-D8F0896DE0FA}" dt="2026-03-16T23:55:40.160" v="3882" actId="1076"/>
        <pc:sldMkLst>
          <pc:docMk/>
          <pc:sldMk cId="2441909295" sldId="363"/>
        </pc:sldMkLst>
        <pc:spChg chg="mod">
          <ac:chgData name="Yehimy Lulieth Rincón" userId="71b285f3-22a3-4fb9-b62e-eff2b3461126" providerId="ADAL" clId="{94043772-BAF2-4149-A201-D8F0896DE0FA}" dt="2026-03-16T23:53:07.797" v="3851" actId="948"/>
          <ac:spMkLst>
            <pc:docMk/>
            <pc:sldMk cId="2441909295" sldId="363"/>
            <ac:spMk id="4" creationId="{0002B7F4-5A37-8152-10C4-934376E18F38}"/>
          </ac:spMkLst>
        </pc:spChg>
        <pc:spChg chg="mod">
          <ac:chgData name="Yehimy Lulieth Rincón" userId="71b285f3-22a3-4fb9-b62e-eff2b3461126" providerId="ADAL" clId="{94043772-BAF2-4149-A201-D8F0896DE0FA}" dt="2026-03-16T23:54:34.828" v="3867" actId="20577"/>
          <ac:spMkLst>
            <pc:docMk/>
            <pc:sldMk cId="2441909295" sldId="363"/>
            <ac:spMk id="6" creationId="{CD77F4AD-7C88-84F5-F006-BF82408179EE}"/>
          </ac:spMkLst>
        </pc:spChg>
        <pc:spChg chg="mod">
          <ac:chgData name="Yehimy Lulieth Rincón" userId="71b285f3-22a3-4fb9-b62e-eff2b3461126" providerId="ADAL" clId="{94043772-BAF2-4149-A201-D8F0896DE0FA}" dt="2026-03-16T23:51:32.243" v="3824" actId="14100"/>
          <ac:spMkLst>
            <pc:docMk/>
            <pc:sldMk cId="2441909295" sldId="363"/>
            <ac:spMk id="8" creationId="{543AC42A-072C-329F-F62D-8C310FBB4C04}"/>
          </ac:spMkLst>
        </pc:spChg>
        <pc:spChg chg="mod">
          <ac:chgData name="Yehimy Lulieth Rincón" userId="71b285f3-22a3-4fb9-b62e-eff2b3461126" providerId="ADAL" clId="{94043772-BAF2-4149-A201-D8F0896DE0FA}" dt="2026-03-16T23:55:33.988" v="3880" actId="20577"/>
          <ac:spMkLst>
            <pc:docMk/>
            <pc:sldMk cId="2441909295" sldId="363"/>
            <ac:spMk id="9" creationId="{CE330BFE-1AD6-15E1-BE7E-E7C596F38D68}"/>
          </ac:spMkLst>
        </pc:spChg>
        <pc:spChg chg="mod">
          <ac:chgData name="Yehimy Lulieth Rincón" userId="71b285f3-22a3-4fb9-b62e-eff2b3461126" providerId="ADAL" clId="{94043772-BAF2-4149-A201-D8F0896DE0FA}" dt="2026-03-16T23:46:41.181" v="3745" actId="6549"/>
          <ac:spMkLst>
            <pc:docMk/>
            <pc:sldMk cId="2441909295" sldId="363"/>
            <ac:spMk id="11" creationId="{2A434E1C-B754-B0D2-3E61-035B0BDFB441}"/>
          </ac:spMkLst>
        </pc:spChg>
        <pc:spChg chg="mod">
          <ac:chgData name="Yehimy Lulieth Rincón" userId="71b285f3-22a3-4fb9-b62e-eff2b3461126" providerId="ADAL" clId="{94043772-BAF2-4149-A201-D8F0896DE0FA}" dt="2026-03-16T23:53:49.329" v="3860" actId="1076"/>
          <ac:spMkLst>
            <pc:docMk/>
            <pc:sldMk cId="2441909295" sldId="363"/>
            <ac:spMk id="17" creationId="{9FEC3643-D072-2812-67E3-7CB7BE8F4602}"/>
          </ac:spMkLst>
        </pc:spChg>
        <pc:cxnChg chg="mod">
          <ac:chgData name="Yehimy Lulieth Rincón" userId="71b285f3-22a3-4fb9-b62e-eff2b3461126" providerId="ADAL" clId="{94043772-BAF2-4149-A201-D8F0896DE0FA}" dt="2026-03-16T23:55:40.160" v="3882" actId="1076"/>
          <ac:cxnSpMkLst>
            <pc:docMk/>
            <pc:sldMk cId="2441909295" sldId="363"/>
            <ac:cxnSpMk id="16" creationId="{D489B49E-CC3A-9699-A5B3-16D45C3B700F}"/>
          </ac:cxnSpMkLst>
        </pc:cxnChg>
      </pc:sldChg>
      <pc:sldChg chg="modSp mod">
        <pc:chgData name="Yehimy Lulieth Rincón" userId="71b285f3-22a3-4fb9-b62e-eff2b3461126" providerId="ADAL" clId="{94043772-BAF2-4149-A201-D8F0896DE0FA}" dt="2026-03-17T00:13:13.495" v="3968" actId="1076"/>
        <pc:sldMkLst>
          <pc:docMk/>
          <pc:sldMk cId="1339719062" sldId="364"/>
        </pc:sldMkLst>
        <pc:spChg chg="mod">
          <ac:chgData name="Yehimy Lulieth Rincón" userId="71b285f3-22a3-4fb9-b62e-eff2b3461126" providerId="ADAL" clId="{94043772-BAF2-4149-A201-D8F0896DE0FA}" dt="2026-03-17T00:09:00.072" v="3924" actId="20577"/>
          <ac:spMkLst>
            <pc:docMk/>
            <pc:sldMk cId="1339719062" sldId="364"/>
            <ac:spMk id="3" creationId="{EDB1C111-A66B-0035-FCCF-5F44112A07A2}"/>
          </ac:spMkLst>
        </pc:spChg>
        <pc:spChg chg="mod">
          <ac:chgData name="Yehimy Lulieth Rincón" userId="71b285f3-22a3-4fb9-b62e-eff2b3461126" providerId="ADAL" clId="{94043772-BAF2-4149-A201-D8F0896DE0FA}" dt="2026-03-17T00:13:13.495" v="3968" actId="1076"/>
          <ac:spMkLst>
            <pc:docMk/>
            <pc:sldMk cId="1339719062" sldId="364"/>
            <ac:spMk id="8" creationId="{0A27F64F-E90C-F2C9-651D-D086BFBDAA0E}"/>
          </ac:spMkLst>
        </pc:spChg>
        <pc:spChg chg="mod">
          <ac:chgData name="Yehimy Lulieth Rincón" userId="71b285f3-22a3-4fb9-b62e-eff2b3461126" providerId="ADAL" clId="{94043772-BAF2-4149-A201-D8F0896DE0FA}" dt="2026-03-17T00:13:13.495" v="3968" actId="1076"/>
          <ac:spMkLst>
            <pc:docMk/>
            <pc:sldMk cId="1339719062" sldId="364"/>
            <ac:spMk id="9" creationId="{16965E10-A8F0-4063-C3B6-7CDD04460CF1}"/>
          </ac:spMkLst>
        </pc:spChg>
        <pc:cxnChg chg="mod">
          <ac:chgData name="Yehimy Lulieth Rincón" userId="71b285f3-22a3-4fb9-b62e-eff2b3461126" providerId="ADAL" clId="{94043772-BAF2-4149-A201-D8F0896DE0FA}" dt="2026-03-17T00:13:13.495" v="3968" actId="1076"/>
          <ac:cxnSpMkLst>
            <pc:docMk/>
            <pc:sldMk cId="1339719062" sldId="364"/>
            <ac:cxnSpMk id="16" creationId="{24F2A837-AE63-7552-E6FA-BED79AC19944}"/>
          </ac:cxnSpMkLst>
        </pc:cxnChg>
      </pc:sldChg>
      <pc:sldChg chg="modSp mod">
        <pc:chgData name="Yehimy Lulieth Rincón" userId="71b285f3-22a3-4fb9-b62e-eff2b3461126" providerId="ADAL" clId="{94043772-BAF2-4149-A201-D8F0896DE0FA}" dt="2026-03-16T17:23:55.035" v="3133" actId="14100"/>
        <pc:sldMkLst>
          <pc:docMk/>
          <pc:sldMk cId="4233366365" sldId="383"/>
        </pc:sldMkLst>
        <pc:spChg chg="mod">
          <ac:chgData name="Yehimy Lulieth Rincón" userId="71b285f3-22a3-4fb9-b62e-eff2b3461126" providerId="ADAL" clId="{94043772-BAF2-4149-A201-D8F0896DE0FA}" dt="2026-03-16T17:23:55.035" v="3133" actId="14100"/>
          <ac:spMkLst>
            <pc:docMk/>
            <pc:sldMk cId="4233366365" sldId="383"/>
            <ac:spMk id="4" creationId="{14962A3E-BF60-3ADB-846E-C6C45BD700AF}"/>
          </ac:spMkLst>
        </pc:spChg>
      </pc:sldChg>
      <pc:sldChg chg="addSp delSp modSp mod ord">
        <pc:chgData name="Yehimy Lulieth Rincón" userId="71b285f3-22a3-4fb9-b62e-eff2b3461126" providerId="ADAL" clId="{94043772-BAF2-4149-A201-D8F0896DE0FA}" dt="2026-03-16T23:28:02.677" v="3589" actId="22"/>
        <pc:sldMkLst>
          <pc:docMk/>
          <pc:sldMk cId="2250381416" sldId="384"/>
        </pc:sldMkLst>
        <pc:spChg chg="mod">
          <ac:chgData name="Yehimy Lulieth Rincón" userId="71b285f3-22a3-4fb9-b62e-eff2b3461126" providerId="ADAL" clId="{94043772-BAF2-4149-A201-D8F0896DE0FA}" dt="2026-03-16T23:08:11.698" v="3574" actId="20577"/>
          <ac:spMkLst>
            <pc:docMk/>
            <pc:sldMk cId="2250381416" sldId="384"/>
            <ac:spMk id="4" creationId="{C6BFE115-1CC7-CF23-86ED-CFA6E856A140}"/>
          </ac:spMkLst>
        </pc:spChg>
        <pc:spChg chg="mod">
          <ac:chgData name="Yehimy Lulieth Rincón" userId="71b285f3-22a3-4fb9-b62e-eff2b3461126" providerId="ADAL" clId="{94043772-BAF2-4149-A201-D8F0896DE0FA}" dt="2026-03-16T23:01:50.577" v="3543" actId="20577"/>
          <ac:spMkLst>
            <pc:docMk/>
            <pc:sldMk cId="2250381416" sldId="384"/>
            <ac:spMk id="5" creationId="{94264037-FDD2-B721-35FD-19B3A4E01B47}"/>
          </ac:spMkLst>
        </pc:spChg>
        <pc:spChg chg="mod">
          <ac:chgData name="Yehimy Lulieth Rincón" userId="71b285f3-22a3-4fb9-b62e-eff2b3461126" providerId="ADAL" clId="{94043772-BAF2-4149-A201-D8F0896DE0FA}" dt="2026-03-16T23:06:58.910" v="3556" actId="14100"/>
          <ac:spMkLst>
            <pc:docMk/>
            <pc:sldMk cId="2250381416" sldId="384"/>
            <ac:spMk id="8" creationId="{F3148097-A95E-D573-FD31-F57327D8CBEA}"/>
          </ac:spMkLst>
        </pc:spChg>
        <pc:spChg chg="mod">
          <ac:chgData name="Yehimy Lulieth Rincón" userId="71b285f3-22a3-4fb9-b62e-eff2b3461126" providerId="ADAL" clId="{94043772-BAF2-4149-A201-D8F0896DE0FA}" dt="2026-03-16T23:08:57.646" v="3582" actId="20577"/>
          <ac:spMkLst>
            <pc:docMk/>
            <pc:sldMk cId="2250381416" sldId="384"/>
            <ac:spMk id="12" creationId="{F46C81BC-7C19-6FF8-8EF9-38A93EEC8D05}"/>
          </ac:spMkLst>
        </pc:spChg>
        <pc:spChg chg="mod">
          <ac:chgData name="Yehimy Lulieth Rincón" userId="71b285f3-22a3-4fb9-b62e-eff2b3461126" providerId="ADAL" clId="{94043772-BAF2-4149-A201-D8F0896DE0FA}" dt="2026-03-16T23:08:31.192" v="3578" actId="20577"/>
          <ac:spMkLst>
            <pc:docMk/>
            <pc:sldMk cId="2250381416" sldId="384"/>
            <ac:spMk id="15" creationId="{F99883BF-81C7-505F-DD44-DF3F3C3C273A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20:55:04.552" v="3383" actId="20577"/>
        <pc:sldMkLst>
          <pc:docMk/>
          <pc:sldMk cId="3684351541" sldId="385"/>
        </pc:sldMkLst>
        <pc:spChg chg="add mod">
          <ac:chgData name="Yehimy Lulieth Rincón" userId="71b285f3-22a3-4fb9-b62e-eff2b3461126" providerId="ADAL" clId="{94043772-BAF2-4149-A201-D8F0896DE0FA}" dt="2026-03-16T20:51:51.537" v="3336" actId="14100"/>
          <ac:spMkLst>
            <pc:docMk/>
            <pc:sldMk cId="3684351541" sldId="385"/>
            <ac:spMk id="2" creationId="{155758AB-F1E5-D345-F750-914661C92AEB}"/>
          </ac:spMkLst>
        </pc:spChg>
        <pc:spChg chg="mod">
          <ac:chgData name="Yehimy Lulieth Rincón" userId="71b285f3-22a3-4fb9-b62e-eff2b3461126" providerId="ADAL" clId="{94043772-BAF2-4149-A201-D8F0896DE0FA}" dt="2026-03-16T20:53:10.810" v="3368" actId="20577"/>
          <ac:spMkLst>
            <pc:docMk/>
            <pc:sldMk cId="3684351541" sldId="385"/>
            <ac:spMk id="4" creationId="{15F157FA-D344-86B2-E7ED-D4188100092A}"/>
          </ac:spMkLst>
        </pc:spChg>
        <pc:spChg chg="mod">
          <ac:chgData name="Yehimy Lulieth Rincón" userId="71b285f3-22a3-4fb9-b62e-eff2b3461126" providerId="ADAL" clId="{94043772-BAF2-4149-A201-D8F0896DE0FA}" dt="2026-03-16T20:55:04.552" v="3383" actId="20577"/>
          <ac:spMkLst>
            <pc:docMk/>
            <pc:sldMk cId="3684351541" sldId="385"/>
            <ac:spMk id="5" creationId="{EFA780DD-0B64-20E7-9AB7-8258B46D7F12}"/>
          </ac:spMkLst>
        </pc:spChg>
        <pc:spChg chg="mod">
          <ac:chgData name="Yehimy Lulieth Rincón" userId="71b285f3-22a3-4fb9-b62e-eff2b3461126" providerId="ADAL" clId="{94043772-BAF2-4149-A201-D8F0896DE0FA}" dt="2026-03-16T20:54:27.689" v="3381" actId="1076"/>
          <ac:spMkLst>
            <pc:docMk/>
            <pc:sldMk cId="3684351541" sldId="385"/>
            <ac:spMk id="6" creationId="{12453973-96DC-B5C7-7EDA-203C7146CFE6}"/>
          </ac:spMkLst>
        </pc:spChg>
        <pc:spChg chg="mod">
          <ac:chgData name="Yehimy Lulieth Rincón" userId="71b285f3-22a3-4fb9-b62e-eff2b3461126" providerId="ADAL" clId="{94043772-BAF2-4149-A201-D8F0896DE0FA}" dt="2026-03-16T20:51:27.308" v="3330" actId="1076"/>
          <ac:spMkLst>
            <pc:docMk/>
            <pc:sldMk cId="3684351541" sldId="385"/>
            <ac:spMk id="8" creationId="{0B0A6A7A-5025-7F37-203A-4525A089E9D9}"/>
          </ac:spMkLst>
        </pc:spChg>
        <pc:spChg chg="mod">
          <ac:chgData name="Yehimy Lulieth Rincón" userId="71b285f3-22a3-4fb9-b62e-eff2b3461126" providerId="ADAL" clId="{94043772-BAF2-4149-A201-D8F0896DE0FA}" dt="2026-03-16T20:54:27.689" v="3381" actId="1076"/>
          <ac:spMkLst>
            <pc:docMk/>
            <pc:sldMk cId="3684351541" sldId="385"/>
            <ac:spMk id="11" creationId="{D7E7F41F-CB17-D432-0DCF-49E6657C08E7}"/>
          </ac:spMkLst>
        </pc:spChg>
        <pc:spChg chg="mod">
          <ac:chgData name="Yehimy Lulieth Rincón" userId="71b285f3-22a3-4fb9-b62e-eff2b3461126" providerId="ADAL" clId="{94043772-BAF2-4149-A201-D8F0896DE0FA}" dt="2026-03-16T20:54:27.689" v="3381" actId="1076"/>
          <ac:spMkLst>
            <pc:docMk/>
            <pc:sldMk cId="3684351541" sldId="385"/>
            <ac:spMk id="12" creationId="{391AFB32-B370-2485-093D-DA34EE2BC7A1}"/>
          </ac:spMkLst>
        </pc:spChg>
        <pc:spChg chg="mod">
          <ac:chgData name="Yehimy Lulieth Rincón" userId="71b285f3-22a3-4fb9-b62e-eff2b3461126" providerId="ADAL" clId="{94043772-BAF2-4149-A201-D8F0896DE0FA}" dt="2026-03-16T20:54:27.689" v="3381" actId="1076"/>
          <ac:spMkLst>
            <pc:docMk/>
            <pc:sldMk cId="3684351541" sldId="385"/>
            <ac:spMk id="15" creationId="{95CE8A75-D835-EBD1-A4D3-9B5B80D841BA}"/>
          </ac:spMkLst>
        </pc:spChg>
      </pc:sldChg>
      <pc:sldChg chg="addSp modSp del mod modShow">
        <pc:chgData name="Yehimy Lulieth Rincón" userId="71b285f3-22a3-4fb9-b62e-eff2b3461126" providerId="ADAL" clId="{94043772-BAF2-4149-A201-D8F0896DE0FA}" dt="2026-03-20T10:45:25.050" v="4113" actId="2696"/>
        <pc:sldMkLst>
          <pc:docMk/>
          <pc:sldMk cId="3100732966" sldId="388"/>
        </pc:sldMkLst>
      </pc:sldChg>
      <pc:sldChg chg="modSp mod">
        <pc:chgData name="Yehimy Lulieth Rincón" userId="71b285f3-22a3-4fb9-b62e-eff2b3461126" providerId="ADAL" clId="{94043772-BAF2-4149-A201-D8F0896DE0FA}" dt="2026-03-16T23:46:06.130" v="3744" actId="20577"/>
        <pc:sldMkLst>
          <pc:docMk/>
          <pc:sldMk cId="3111562666" sldId="390"/>
        </pc:sldMkLst>
        <pc:spChg chg="mod">
          <ac:chgData name="Yehimy Lulieth Rincón" userId="71b285f3-22a3-4fb9-b62e-eff2b3461126" providerId="ADAL" clId="{94043772-BAF2-4149-A201-D8F0896DE0FA}" dt="2026-03-16T23:32:51.166" v="3742" actId="20577"/>
          <ac:spMkLst>
            <pc:docMk/>
            <pc:sldMk cId="3111562666" sldId="390"/>
            <ac:spMk id="4" creationId="{D1CD7B46-3CF7-14F8-5B0B-85B7B4990FDD}"/>
          </ac:spMkLst>
        </pc:spChg>
        <pc:spChg chg="mod">
          <ac:chgData name="Yehimy Lulieth Rincón" userId="71b285f3-22a3-4fb9-b62e-eff2b3461126" providerId="ADAL" clId="{94043772-BAF2-4149-A201-D8F0896DE0FA}" dt="2026-03-16T23:46:06.130" v="3744" actId="20577"/>
          <ac:spMkLst>
            <pc:docMk/>
            <pc:sldMk cId="3111562666" sldId="390"/>
            <ac:spMk id="5" creationId="{71D08965-1A8D-5304-4CE8-7568FBEEAECF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23:59:36.593" v="3921" actId="1076"/>
        <pc:sldMkLst>
          <pc:docMk/>
          <pc:sldMk cId="2487265602" sldId="391"/>
        </pc:sldMkLst>
        <pc:spChg chg="mod">
          <ac:chgData name="Yehimy Lulieth Rincón" userId="71b285f3-22a3-4fb9-b62e-eff2b3461126" providerId="ADAL" clId="{94043772-BAF2-4149-A201-D8F0896DE0FA}" dt="2026-03-16T23:57:08.457" v="3888" actId="1076"/>
          <ac:spMkLst>
            <pc:docMk/>
            <pc:sldMk cId="2487265602" sldId="391"/>
            <ac:spMk id="3" creationId="{E0D1E7CD-61C7-05ED-A232-3DC70DDBA661}"/>
          </ac:spMkLst>
        </pc:spChg>
        <pc:spChg chg="mod">
          <ac:chgData name="Yehimy Lulieth Rincón" userId="71b285f3-22a3-4fb9-b62e-eff2b3461126" providerId="ADAL" clId="{94043772-BAF2-4149-A201-D8F0896DE0FA}" dt="2026-03-16T23:58:05.673" v="3904" actId="113"/>
          <ac:spMkLst>
            <pc:docMk/>
            <pc:sldMk cId="2487265602" sldId="391"/>
            <ac:spMk id="4" creationId="{055F94F4-2A6A-1350-769E-CA49823BC512}"/>
          </ac:spMkLst>
        </pc:spChg>
        <pc:spChg chg="mod">
          <ac:chgData name="Yehimy Lulieth Rincón" userId="71b285f3-22a3-4fb9-b62e-eff2b3461126" providerId="ADAL" clId="{94043772-BAF2-4149-A201-D8F0896DE0FA}" dt="2026-03-16T23:55:53.746" v="3884" actId="20577"/>
          <ac:spMkLst>
            <pc:docMk/>
            <pc:sldMk cId="2487265602" sldId="391"/>
            <ac:spMk id="5" creationId="{E0526D04-CF53-1218-12FF-54F223A3FD5F}"/>
          </ac:spMkLst>
        </pc:spChg>
        <pc:spChg chg="mod">
          <ac:chgData name="Yehimy Lulieth Rincón" userId="71b285f3-22a3-4fb9-b62e-eff2b3461126" providerId="ADAL" clId="{94043772-BAF2-4149-A201-D8F0896DE0FA}" dt="2026-03-16T23:58:49.008" v="3912" actId="1076"/>
          <ac:spMkLst>
            <pc:docMk/>
            <pc:sldMk cId="2487265602" sldId="391"/>
            <ac:spMk id="12" creationId="{E19FCF07-07BD-1E1B-73D6-02113765A000}"/>
          </ac:spMkLst>
        </pc:spChg>
        <pc:spChg chg="mod">
          <ac:chgData name="Yehimy Lulieth Rincón" userId="71b285f3-22a3-4fb9-b62e-eff2b3461126" providerId="ADAL" clId="{94043772-BAF2-4149-A201-D8F0896DE0FA}" dt="2026-03-16T23:59:36.593" v="3921" actId="1076"/>
          <ac:spMkLst>
            <pc:docMk/>
            <pc:sldMk cId="2487265602" sldId="391"/>
            <ac:spMk id="15" creationId="{935D0A14-BFCA-FB2E-A91F-FD8EF8838E14}"/>
          </ac:spMkLst>
        </pc:spChg>
      </pc:sldChg>
      <pc:sldChg chg="modSp mod">
        <pc:chgData name="Yehimy Lulieth Rincón" userId="71b285f3-22a3-4fb9-b62e-eff2b3461126" providerId="ADAL" clId="{94043772-BAF2-4149-A201-D8F0896DE0FA}" dt="2026-03-17T00:18:34.590" v="4056" actId="20577"/>
        <pc:sldMkLst>
          <pc:docMk/>
          <pc:sldMk cId="3930313610" sldId="392"/>
        </pc:sldMkLst>
        <pc:spChg chg="mod">
          <ac:chgData name="Yehimy Lulieth Rincón" userId="71b285f3-22a3-4fb9-b62e-eff2b3461126" providerId="ADAL" clId="{94043772-BAF2-4149-A201-D8F0896DE0FA}" dt="2026-03-17T00:15:59.747" v="3980" actId="14100"/>
          <ac:spMkLst>
            <pc:docMk/>
            <pc:sldMk cId="3930313610" sldId="392"/>
            <ac:spMk id="3" creationId="{73312510-DC89-7383-72DA-BCC7A58D8282}"/>
          </ac:spMkLst>
        </pc:spChg>
        <pc:spChg chg="mod">
          <ac:chgData name="Yehimy Lulieth Rincón" userId="71b285f3-22a3-4fb9-b62e-eff2b3461126" providerId="ADAL" clId="{94043772-BAF2-4149-A201-D8F0896DE0FA}" dt="2026-03-17T00:17:10.921" v="4017" actId="20577"/>
          <ac:spMkLst>
            <pc:docMk/>
            <pc:sldMk cId="3930313610" sldId="392"/>
            <ac:spMk id="4" creationId="{02589BB3-996F-EE44-D08C-8D67E4BB7B72}"/>
          </ac:spMkLst>
        </pc:spChg>
        <pc:spChg chg="mod">
          <ac:chgData name="Yehimy Lulieth Rincón" userId="71b285f3-22a3-4fb9-b62e-eff2b3461126" providerId="ADAL" clId="{94043772-BAF2-4149-A201-D8F0896DE0FA}" dt="2026-03-17T00:15:26.942" v="3974" actId="20577"/>
          <ac:spMkLst>
            <pc:docMk/>
            <pc:sldMk cId="3930313610" sldId="392"/>
            <ac:spMk id="5" creationId="{C3F3A8E9-E011-B930-EF19-02CF7013706D}"/>
          </ac:spMkLst>
        </pc:spChg>
        <pc:spChg chg="mod">
          <ac:chgData name="Yehimy Lulieth Rincón" userId="71b285f3-22a3-4fb9-b62e-eff2b3461126" providerId="ADAL" clId="{94043772-BAF2-4149-A201-D8F0896DE0FA}" dt="2026-03-17T00:15:20.777" v="3970" actId="1076"/>
          <ac:spMkLst>
            <pc:docMk/>
            <pc:sldMk cId="3930313610" sldId="392"/>
            <ac:spMk id="8" creationId="{28D23BBA-2999-4FCC-76CF-9CF1B456D802}"/>
          </ac:spMkLst>
        </pc:spChg>
        <pc:spChg chg="mod">
          <ac:chgData name="Yehimy Lulieth Rincón" userId="71b285f3-22a3-4fb9-b62e-eff2b3461126" providerId="ADAL" clId="{94043772-BAF2-4149-A201-D8F0896DE0FA}" dt="2026-03-17T00:18:34.590" v="4056" actId="20577"/>
          <ac:spMkLst>
            <pc:docMk/>
            <pc:sldMk cId="3930313610" sldId="392"/>
            <ac:spMk id="12" creationId="{FC0A6BB3-EED6-E418-D741-5EEB14A422D0}"/>
          </ac:spMkLst>
        </pc:spChg>
        <pc:spChg chg="mod">
          <ac:chgData name="Yehimy Lulieth Rincón" userId="71b285f3-22a3-4fb9-b62e-eff2b3461126" providerId="ADAL" clId="{94043772-BAF2-4149-A201-D8F0896DE0FA}" dt="2026-03-17T00:17:55.397" v="4033" actId="1076"/>
          <ac:spMkLst>
            <pc:docMk/>
            <pc:sldMk cId="3930313610" sldId="392"/>
            <ac:spMk id="15" creationId="{6BEDD2FE-28CF-2C7A-0B29-072A347EA35D}"/>
          </ac:spMkLst>
        </pc:spChg>
      </pc:sldChg>
      <pc:sldChg chg="modSp mod">
        <pc:chgData name="Yehimy Lulieth Rincón" userId="71b285f3-22a3-4fb9-b62e-eff2b3461126" providerId="ADAL" clId="{94043772-BAF2-4149-A201-D8F0896DE0FA}" dt="2026-03-17T01:35:59.269" v="4109" actId="20577"/>
        <pc:sldMkLst>
          <pc:docMk/>
          <pc:sldMk cId="2137107473" sldId="393"/>
        </pc:sldMkLst>
        <pc:spChg chg="mod">
          <ac:chgData name="Yehimy Lulieth Rincón" userId="71b285f3-22a3-4fb9-b62e-eff2b3461126" providerId="ADAL" clId="{94043772-BAF2-4149-A201-D8F0896DE0FA}" dt="2026-03-17T01:35:59.269" v="4109" actId="20577"/>
          <ac:spMkLst>
            <pc:docMk/>
            <pc:sldMk cId="2137107473" sldId="393"/>
            <ac:spMk id="4" creationId="{679F1F20-3DA9-7048-1B48-606013D0F7C5}"/>
          </ac:spMkLst>
        </pc:spChg>
        <pc:spChg chg="mod">
          <ac:chgData name="Yehimy Lulieth Rincón" userId="71b285f3-22a3-4fb9-b62e-eff2b3461126" providerId="ADAL" clId="{94043772-BAF2-4149-A201-D8F0896DE0FA}" dt="2026-03-17T01:35:41.456" v="4085" actId="20577"/>
          <ac:spMkLst>
            <pc:docMk/>
            <pc:sldMk cId="2137107473" sldId="393"/>
            <ac:spMk id="11" creationId="{8A4E88BB-1B62-AE8B-C0C4-CE65289856B5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19:49:49.776" v="3163" actId="1076"/>
        <pc:sldMkLst>
          <pc:docMk/>
          <pc:sldMk cId="2031273432" sldId="418"/>
        </pc:sldMkLst>
        <pc:spChg chg="mod">
          <ac:chgData name="Yehimy Lulieth Rincón" userId="71b285f3-22a3-4fb9-b62e-eff2b3461126" providerId="ADAL" clId="{94043772-BAF2-4149-A201-D8F0896DE0FA}" dt="2026-03-16T19:48:52.031" v="3141" actId="1076"/>
          <ac:spMkLst>
            <pc:docMk/>
            <pc:sldMk cId="2031273432" sldId="418"/>
            <ac:spMk id="2" creationId="{EB3D3032-9BCF-C874-DE96-2F04473BCBE2}"/>
          </ac:spMkLst>
        </pc:spChg>
        <pc:spChg chg="mod">
          <ac:chgData name="Yehimy Lulieth Rincón" userId="71b285f3-22a3-4fb9-b62e-eff2b3461126" providerId="ADAL" clId="{94043772-BAF2-4149-A201-D8F0896DE0FA}" dt="2026-03-16T19:48:52.031" v="3141" actId="1076"/>
          <ac:spMkLst>
            <pc:docMk/>
            <pc:sldMk cId="2031273432" sldId="418"/>
            <ac:spMk id="3" creationId="{84B6BB9D-0718-A2E2-191F-3CA40067A5DF}"/>
          </ac:spMkLst>
        </pc:spChg>
        <pc:spChg chg="add mod">
          <ac:chgData name="Yehimy Lulieth Rincón" userId="71b285f3-22a3-4fb9-b62e-eff2b3461126" providerId="ADAL" clId="{94043772-BAF2-4149-A201-D8F0896DE0FA}" dt="2026-03-16T19:49:49.776" v="3163" actId="1076"/>
          <ac:spMkLst>
            <pc:docMk/>
            <pc:sldMk cId="2031273432" sldId="418"/>
            <ac:spMk id="6" creationId="{44782212-F94A-F154-00A6-08E5BEE6E3E5}"/>
          </ac:spMkLst>
        </pc:spChg>
      </pc:sldChg>
      <pc:sldChg chg="modSp mod">
        <pc:chgData name="Yehimy Lulieth Rincón" userId="71b285f3-22a3-4fb9-b62e-eff2b3461126" providerId="ADAL" clId="{94043772-BAF2-4149-A201-D8F0896DE0FA}" dt="2026-03-16T19:50:48.822" v="3167" actId="1076"/>
        <pc:sldMkLst>
          <pc:docMk/>
          <pc:sldMk cId="996185720" sldId="419"/>
        </pc:sldMkLst>
        <pc:spChg chg="mod">
          <ac:chgData name="Yehimy Lulieth Rincón" userId="71b285f3-22a3-4fb9-b62e-eff2b3461126" providerId="ADAL" clId="{94043772-BAF2-4149-A201-D8F0896DE0FA}" dt="2026-03-16T19:50:48.822" v="3167" actId="1076"/>
          <ac:spMkLst>
            <pc:docMk/>
            <pc:sldMk cId="996185720" sldId="419"/>
            <ac:spMk id="10" creationId="{9DB09A67-329A-1350-CC9B-9AC45A473DEC}"/>
          </ac:spMkLst>
        </pc:spChg>
        <pc:spChg chg="mod">
          <ac:chgData name="Yehimy Lulieth Rincón" userId="71b285f3-22a3-4fb9-b62e-eff2b3461126" providerId="ADAL" clId="{94043772-BAF2-4149-A201-D8F0896DE0FA}" dt="2026-03-16T19:50:46.640" v="3166" actId="1076"/>
          <ac:spMkLst>
            <pc:docMk/>
            <pc:sldMk cId="996185720" sldId="419"/>
            <ac:spMk id="11" creationId="{4F9889F8-83AE-8B75-2503-68D7902F6F6C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19:53:14.566" v="3181" actId="20577"/>
        <pc:sldMkLst>
          <pc:docMk/>
          <pc:sldMk cId="1093296514" sldId="420"/>
        </pc:sldMkLst>
        <pc:spChg chg="mod">
          <ac:chgData name="Yehimy Lulieth Rincón" userId="71b285f3-22a3-4fb9-b62e-eff2b3461126" providerId="ADAL" clId="{94043772-BAF2-4149-A201-D8F0896DE0FA}" dt="2026-03-16T19:52:43.911" v="3174" actId="20577"/>
          <ac:spMkLst>
            <pc:docMk/>
            <pc:sldMk cId="1093296514" sldId="420"/>
            <ac:spMk id="3" creationId="{87BE6131-C6C8-4076-EAB8-9E684222D5FF}"/>
          </ac:spMkLst>
        </pc:spChg>
        <pc:spChg chg="mod">
          <ac:chgData name="Yehimy Lulieth Rincón" userId="71b285f3-22a3-4fb9-b62e-eff2b3461126" providerId="ADAL" clId="{94043772-BAF2-4149-A201-D8F0896DE0FA}" dt="2026-03-16T19:53:14.566" v="3181" actId="20577"/>
          <ac:spMkLst>
            <pc:docMk/>
            <pc:sldMk cId="1093296514" sldId="420"/>
            <ac:spMk id="9" creationId="{B12AB81A-78DC-8786-7136-F16630D6F014}"/>
          </ac:spMkLst>
        </pc:spChg>
      </pc:sldChg>
      <pc:sldChg chg="modSp mod">
        <pc:chgData name="Yehimy Lulieth Rincón" userId="71b285f3-22a3-4fb9-b62e-eff2b3461126" providerId="ADAL" clId="{94043772-BAF2-4149-A201-D8F0896DE0FA}" dt="2026-03-16T20:00:00.795" v="3183" actId="14100"/>
        <pc:sldMkLst>
          <pc:docMk/>
          <pc:sldMk cId="1574263523" sldId="421"/>
        </pc:sldMkLst>
        <pc:spChg chg="mod">
          <ac:chgData name="Yehimy Lulieth Rincón" userId="71b285f3-22a3-4fb9-b62e-eff2b3461126" providerId="ADAL" clId="{94043772-BAF2-4149-A201-D8F0896DE0FA}" dt="2026-03-16T20:00:00.795" v="3183" actId="14100"/>
          <ac:spMkLst>
            <pc:docMk/>
            <pc:sldMk cId="1574263523" sldId="421"/>
            <ac:spMk id="8" creationId="{5C431009-38BE-72AE-8A4A-DC205BB0B177}"/>
          </ac:spMkLst>
        </pc:spChg>
        <pc:spChg chg="mod">
          <ac:chgData name="Yehimy Lulieth Rincón" userId="71b285f3-22a3-4fb9-b62e-eff2b3461126" providerId="ADAL" clId="{94043772-BAF2-4149-A201-D8F0896DE0FA}" dt="2026-03-16T12:32:27.134" v="3121" actId="20577"/>
          <ac:spMkLst>
            <pc:docMk/>
            <pc:sldMk cId="1574263523" sldId="421"/>
            <ac:spMk id="9" creationId="{3182E240-BB63-B5E4-7C22-70F6790C185F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16T20:11:56.016" v="3220" actId="1076"/>
        <pc:sldMkLst>
          <pc:docMk/>
          <pc:sldMk cId="675658726" sldId="422"/>
        </pc:sldMkLst>
        <pc:spChg chg="mod">
          <ac:chgData name="Yehimy Lulieth Rincón" userId="71b285f3-22a3-4fb9-b62e-eff2b3461126" providerId="ADAL" clId="{94043772-BAF2-4149-A201-D8F0896DE0FA}" dt="2026-03-16T20:10:25.092" v="3204" actId="20577"/>
          <ac:spMkLst>
            <pc:docMk/>
            <pc:sldMk cId="675658726" sldId="422"/>
            <ac:spMk id="4" creationId="{991AA9DE-B4BE-A9C4-B068-8E553C4C2E84}"/>
          </ac:spMkLst>
        </pc:spChg>
        <pc:spChg chg="mod">
          <ac:chgData name="Yehimy Lulieth Rincón" userId="71b285f3-22a3-4fb9-b62e-eff2b3461126" providerId="ADAL" clId="{94043772-BAF2-4149-A201-D8F0896DE0FA}" dt="2026-03-16T20:11:56.016" v="3220" actId="1076"/>
          <ac:spMkLst>
            <pc:docMk/>
            <pc:sldMk cId="675658726" sldId="422"/>
            <ac:spMk id="6" creationId="{AC2CC397-F66C-54A1-5445-A98177F1A0AB}"/>
          </ac:spMkLst>
        </pc:spChg>
        <pc:spChg chg="mod">
          <ac:chgData name="Yehimy Lulieth Rincón" userId="71b285f3-22a3-4fb9-b62e-eff2b3461126" providerId="ADAL" clId="{94043772-BAF2-4149-A201-D8F0896DE0FA}" dt="2026-03-16T20:01:25.542" v="3192" actId="1076"/>
          <ac:spMkLst>
            <pc:docMk/>
            <pc:sldMk cId="675658726" sldId="422"/>
            <ac:spMk id="8" creationId="{6C45F1FE-4CCF-A957-6B9D-415320E32272}"/>
          </ac:spMkLst>
        </pc:spChg>
        <pc:spChg chg="mod">
          <ac:chgData name="Yehimy Lulieth Rincón" userId="71b285f3-22a3-4fb9-b62e-eff2b3461126" providerId="ADAL" clId="{94043772-BAF2-4149-A201-D8F0896DE0FA}" dt="2026-03-16T20:11:56.016" v="3220" actId="1076"/>
          <ac:spMkLst>
            <pc:docMk/>
            <pc:sldMk cId="675658726" sldId="422"/>
            <ac:spMk id="10" creationId="{1220C3C5-0EB5-076B-A12F-2B19B33D1544}"/>
          </ac:spMkLst>
        </pc:spChg>
        <pc:spChg chg="mod">
          <ac:chgData name="Yehimy Lulieth Rincón" userId="71b285f3-22a3-4fb9-b62e-eff2b3461126" providerId="ADAL" clId="{94043772-BAF2-4149-A201-D8F0896DE0FA}" dt="2026-03-16T20:11:46.540" v="3218" actId="1076"/>
          <ac:spMkLst>
            <pc:docMk/>
            <pc:sldMk cId="675658726" sldId="422"/>
            <ac:spMk id="11" creationId="{739FB26D-CD65-7165-3B71-90E7B210487C}"/>
          </ac:spMkLst>
        </pc:spChg>
        <pc:spChg chg="mod">
          <ac:chgData name="Yehimy Lulieth Rincón" userId="71b285f3-22a3-4fb9-b62e-eff2b3461126" providerId="ADAL" clId="{94043772-BAF2-4149-A201-D8F0896DE0FA}" dt="2026-03-16T20:11:51.588" v="3219" actId="14100"/>
          <ac:spMkLst>
            <pc:docMk/>
            <pc:sldMk cId="675658726" sldId="422"/>
            <ac:spMk id="12" creationId="{A9A61111-E2F5-FED8-1C2B-949DDC8495E4}"/>
          </ac:spMkLst>
        </pc:spChg>
        <pc:spChg chg="add mod">
          <ac:chgData name="Yehimy Lulieth Rincón" userId="71b285f3-22a3-4fb9-b62e-eff2b3461126" providerId="ADAL" clId="{94043772-BAF2-4149-A201-D8F0896DE0FA}" dt="2026-03-16T20:09:05.658" v="3197" actId="1076"/>
          <ac:spMkLst>
            <pc:docMk/>
            <pc:sldMk cId="675658726" sldId="422"/>
            <ac:spMk id="13" creationId="{D313E6A0-B42A-887A-CBD5-8222E9109A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80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87C3-ED5F-3B52-9627-6DF67282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01BF9-E046-3AB9-2E6F-FD27D50FA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C73B2-A30E-7529-60E2-9E7E8298F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Paso a paso</a:t>
            </a:r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Pega el extracto de reunión (texto crudo).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Pide extracción de hechos (sin interpretación).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Luego pide el email con tono y formato.</a:t>
            </a:r>
          </a:p>
          <a:p>
            <a:r>
              <a:rPr lang="es-MX" b="1" dirty="0"/>
              <a:t>Notas (guion)</a:t>
            </a:r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“La clave del </a:t>
            </a:r>
            <a:r>
              <a:rPr lang="es-MX" dirty="0" err="1"/>
              <a:t>Prompt</a:t>
            </a:r>
            <a:r>
              <a:rPr lang="es-MX" dirty="0"/>
              <a:t> </a:t>
            </a:r>
            <a:r>
              <a:rPr lang="es-MX" dirty="0" err="1"/>
              <a:t>Engineering</a:t>
            </a:r>
            <a:r>
              <a:rPr lang="es-MX" dirty="0"/>
              <a:t> aplicado en negocio no es escribir ‘un </a:t>
            </a:r>
            <a:r>
              <a:rPr lang="es-MX" dirty="0" err="1"/>
              <a:t>prompt</a:t>
            </a:r>
            <a:r>
              <a:rPr lang="es-MX" dirty="0"/>
              <a:t> perfecto’, sino diseñar </a:t>
            </a:r>
            <a:r>
              <a:rPr lang="es-MX" i="1" dirty="0"/>
              <a:t>una secuencia</a:t>
            </a:r>
            <a:r>
              <a:rPr lang="es-MX" dirty="0"/>
              <a:t> que reduzca ambigüedad.”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Explica el concepto de </a:t>
            </a:r>
            <a:r>
              <a:rPr lang="es-MX" b="1" dirty="0"/>
              <a:t>tarea atómica</a:t>
            </a:r>
            <a:r>
              <a:rPr lang="es-MX" dirty="0"/>
              <a:t>: si una instrucción mezcla objetivos (analizar + crear + decidir), el modelo tiende a “rellenar huecos”.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Introduce el patrón: </a:t>
            </a:r>
            <a:r>
              <a:rPr lang="es-MX" b="1" dirty="0"/>
              <a:t>Separar </a:t>
            </a:r>
            <a:r>
              <a:rPr lang="es-MX" b="1" i="1" dirty="0"/>
              <a:t>datos</a:t>
            </a:r>
            <a:r>
              <a:rPr lang="es-MX" b="1" dirty="0"/>
              <a:t> de </a:t>
            </a:r>
            <a:r>
              <a:rPr lang="es-MX" b="1" i="1" dirty="0"/>
              <a:t>producción</a:t>
            </a:r>
            <a:r>
              <a:rPr lang="es-MX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Refuerza: </a:t>
            </a:r>
            <a:r>
              <a:rPr lang="es-MX" i="1" dirty="0"/>
              <a:t>primer paso siempre debe ser extracción/estructura</a:t>
            </a:r>
            <a:r>
              <a:rPr lang="es-MX" dirty="0"/>
              <a:t>, porque ahí detectas vacíos antes de redactar.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La regla de oro (fácil de recordar)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Si tu </a:t>
            </a:r>
            <a:r>
              <a:rPr lang="es-MX" dirty="0" err="1"/>
              <a:t>prompt</a:t>
            </a:r>
            <a:r>
              <a:rPr lang="es-MX" dirty="0"/>
              <a:t> contiene </a:t>
            </a:r>
            <a:r>
              <a:rPr lang="es-MX" b="1" dirty="0"/>
              <a:t>“y además…”</a:t>
            </a:r>
            <a:r>
              <a:rPr lang="es-MX" dirty="0"/>
              <a:t> más de una vez, probablemente </a:t>
            </a:r>
            <a:r>
              <a:rPr lang="es-MX" b="1" dirty="0"/>
              <a:t>NO es atómico</a:t>
            </a:r>
            <a:r>
              <a:rPr lang="es-MX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b="1" dirty="0" err="1"/>
              <a:t>Checklist</a:t>
            </a:r>
            <a:r>
              <a:rPr lang="es-MX" b="1" dirty="0"/>
              <a:t> para que una tarea sea atómica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¿Tiene </a:t>
            </a:r>
            <a:r>
              <a:rPr lang="es-MX" b="1" dirty="0"/>
              <a:t>un solo verbo principal</a:t>
            </a:r>
            <a:r>
              <a:rPr lang="es-MX" dirty="0"/>
              <a:t>? (extraer / clasificar / redactar / evaluar)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¿La salida es </a:t>
            </a:r>
            <a:r>
              <a:rPr lang="es-MX" b="1" dirty="0"/>
              <a:t>un formato específico</a:t>
            </a:r>
            <a:r>
              <a:rPr lang="es-MX" dirty="0"/>
              <a:t>? (JSON / tabla / </a:t>
            </a:r>
            <a:r>
              <a:rPr lang="es-MX" dirty="0" err="1"/>
              <a:t>bullets</a:t>
            </a:r>
            <a:r>
              <a:rPr lang="es-MX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¿Tiene </a:t>
            </a:r>
            <a:r>
              <a:rPr lang="es-MX" b="1" dirty="0"/>
              <a:t>restricción </a:t>
            </a:r>
            <a:r>
              <a:rPr lang="es-MX" b="1" dirty="0" err="1"/>
              <a:t>anti-invención</a:t>
            </a:r>
            <a:r>
              <a:rPr lang="es-MX" dirty="0"/>
              <a:t>? (si no está, poner TBD)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¿Se puede validar rápido? (sí/no)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77984-58C1-E3A3-07E9-E1447A75A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10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B1664-A5FD-C6D7-8E72-5E057A7F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EA1BD-5CE7-F784-5AC8-57A35A5C8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B844A-322D-C7BA-F4E1-2041B6CA1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Qué se espera que pase</a:t>
            </a:r>
          </a:p>
          <a:p>
            <a:r>
              <a:rPr lang="es-MX" dirty="0"/>
              <a:t>Una tabla accionable, con vacíos explícitos (“TBD”), lista para validar con el equipo.</a:t>
            </a:r>
          </a:p>
          <a:p>
            <a:endParaRPr lang="es-MX" b="1" dirty="0"/>
          </a:p>
          <a:p>
            <a:r>
              <a:rPr lang="es-MX" b="1" dirty="0"/>
              <a:t>Notas (guion)</a:t>
            </a:r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Explica por qué funciona: el modelo rinde mejor con </a:t>
            </a:r>
            <a:r>
              <a:rPr lang="es-MX" b="1" dirty="0"/>
              <a:t>restricciones</a:t>
            </a:r>
            <a:r>
              <a:rPr lang="es-MX" dirty="0"/>
              <a:t> y </a:t>
            </a:r>
            <a:r>
              <a:rPr lang="es-MX" b="1" dirty="0"/>
              <a:t>salidas acotadas</a:t>
            </a:r>
            <a:r>
              <a:rPr lang="es-MX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Señala la ventaja UX: el usuario valida en cada </a:t>
            </a:r>
            <a:r>
              <a:rPr lang="es-MX" dirty="0" err="1"/>
              <a:t>checkpoint</a:t>
            </a:r>
            <a:r>
              <a:rPr lang="es-MX" dirty="0"/>
              <a:t> (“esto sí / esto no”) en vez de corregir un resultado final gigante.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Da un </a:t>
            </a:r>
            <a:r>
              <a:rPr lang="es-MX" dirty="0" err="1"/>
              <a:t>tip</a:t>
            </a:r>
            <a:r>
              <a:rPr lang="es-MX" dirty="0"/>
              <a:t>: “Tu cadena debe tener </a:t>
            </a:r>
            <a:r>
              <a:rPr lang="es-MX" i="1" dirty="0"/>
              <a:t>puntos de control</a:t>
            </a:r>
            <a:r>
              <a:rPr lang="es-MX" dirty="0"/>
              <a:t> donde puedas decir ‘ok, esto está correcto’ antes de continuar.”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4E7A-689F-F20E-D9B9-2EDE4A94D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6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D678-DCAC-2B37-97C5-6B934A58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D2D35-312B-A829-2C2D-4FC4DA1B5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4E65F-FFC7-94C7-A0BD-B30B4255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CB0EC-E6AE-B43D-CCD6-1C3075A2E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9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9945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25A3-8DC4-4085-E7BB-553E464F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1E9BB-6F65-95B0-B073-4B641B5E6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29CA8-5257-F9F9-1B6D-9058096CC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Qué se espera que pase</a:t>
            </a:r>
            <a:endParaRPr lang="es-MX" dirty="0"/>
          </a:p>
          <a:p>
            <a:r>
              <a:rPr lang="es-MX" dirty="0"/>
              <a:t>El modelo genera correo + tabla donde detecta si se pasó de listo.</a:t>
            </a:r>
          </a:p>
          <a:p>
            <a:r>
              <a:rPr lang="es-MX" dirty="0"/>
              <a:t>Si algo falta (ej. siguiente paso), queda evidenciado para iterar.</a:t>
            </a:r>
          </a:p>
          <a:p>
            <a:r>
              <a:rPr lang="es-MX" b="1" dirty="0"/>
              <a:t>Notas</a:t>
            </a:r>
            <a:endParaRPr lang="es-MX" dirty="0"/>
          </a:p>
          <a:p>
            <a:r>
              <a:rPr lang="es-MX" dirty="0"/>
              <a:t>Aclara que “</a:t>
            </a:r>
            <a:r>
              <a:rPr lang="es-MX" dirty="0" err="1"/>
              <a:t>auto-revisión</a:t>
            </a:r>
            <a:r>
              <a:rPr lang="es-MX" dirty="0"/>
              <a:t>” NO es confiar ciegamente: es </a:t>
            </a:r>
            <a:r>
              <a:rPr lang="es-MX" b="1" dirty="0"/>
              <a:t>una segunda pasada estructurada</a:t>
            </a:r>
            <a:r>
              <a:rPr lang="es-MX" dirty="0"/>
              <a:t>.</a:t>
            </a:r>
          </a:p>
          <a:p>
            <a:r>
              <a:rPr lang="es-MX" dirty="0"/>
              <a:t>Casos borde: “proveedor no responde”, “fechas contradictorias”, “datos faltantes”.</a:t>
            </a:r>
          </a:p>
          <a:p>
            <a:r>
              <a:rPr lang="es-MX" dirty="0"/>
              <a:t>Enseña la lógica: primero producción, luego auditoría.</a:t>
            </a:r>
          </a:p>
          <a:p>
            <a:r>
              <a:rPr lang="es-MX" dirty="0"/>
              <a:t>Consejo: si tu </a:t>
            </a:r>
            <a:r>
              <a:rPr lang="es-MX" dirty="0" err="1"/>
              <a:t>checklist</a:t>
            </a:r>
            <a:r>
              <a:rPr lang="es-MX" dirty="0"/>
              <a:t> es claro, el modelo se vuelve más consistente sin subir complejidad.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4BC66-2221-BAA1-2884-14CDB0A69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48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53F4-E754-2D27-F1CC-869C2103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4F15D-CF56-C60A-5B94-41E51C59B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A513A-9A05-D8E1-42E4-6B257E648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Qué se espera que pase</a:t>
            </a:r>
            <a:endParaRPr lang="es-MX" dirty="0"/>
          </a:p>
          <a:p>
            <a:r>
              <a:rPr lang="es-MX" dirty="0"/>
              <a:t>El modelo genera correo + tabla donde detecta si se pasó de listo.</a:t>
            </a:r>
          </a:p>
          <a:p>
            <a:r>
              <a:rPr lang="es-MX" dirty="0"/>
              <a:t>Si algo falta (ej. siguiente paso), queda evidenciado para iterar.</a:t>
            </a:r>
          </a:p>
          <a:p>
            <a:r>
              <a:rPr lang="es-MX" b="1" dirty="0"/>
              <a:t>Notas</a:t>
            </a:r>
            <a:endParaRPr lang="es-MX" dirty="0"/>
          </a:p>
          <a:p>
            <a:r>
              <a:rPr lang="es-MX" dirty="0"/>
              <a:t>Aclara que “</a:t>
            </a:r>
            <a:r>
              <a:rPr lang="es-MX" dirty="0" err="1"/>
              <a:t>auto-revisión</a:t>
            </a:r>
            <a:r>
              <a:rPr lang="es-MX" dirty="0"/>
              <a:t>” NO es confiar ciegamente: es </a:t>
            </a:r>
            <a:r>
              <a:rPr lang="es-MX" b="1" dirty="0"/>
              <a:t>una segunda pasada estructurada</a:t>
            </a:r>
            <a:r>
              <a:rPr lang="es-MX" dirty="0"/>
              <a:t>.</a:t>
            </a:r>
          </a:p>
          <a:p>
            <a:r>
              <a:rPr lang="es-MX" dirty="0"/>
              <a:t>Casos borde: “proveedor no responde”, “fechas contradictorias”, “datos faltantes”.</a:t>
            </a:r>
          </a:p>
          <a:p>
            <a:r>
              <a:rPr lang="es-MX" dirty="0"/>
              <a:t>Enseña la lógica: primero producción, luego auditoría.</a:t>
            </a:r>
          </a:p>
          <a:p>
            <a:r>
              <a:rPr lang="es-MX" dirty="0"/>
              <a:t>Consejo: si tu </a:t>
            </a:r>
            <a:r>
              <a:rPr lang="es-MX" dirty="0" err="1"/>
              <a:t>checklist</a:t>
            </a:r>
            <a:r>
              <a:rPr lang="es-MX" dirty="0"/>
              <a:t> es claro, el modelo se vuelve más consistente sin subir complejidad.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6C66-3377-A7CF-51FB-16DF2C2B7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83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644A-5ABC-8E3C-4419-3789B2D7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AA77-D2FF-010B-7AE4-8EAFCC5F2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F4ECA-A2A4-0F2D-83D9-5B8566846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MX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E028C-36B5-00C3-206B-9CABC6F8C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23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23FA-6BAD-C368-2BD1-26736EFF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6B8D0-CA63-2523-E883-2F92CD14A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C6F44-8817-C3EC-4E7B-7EFE2388C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MX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6D20-3244-81EC-6D07-919794779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4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A90E2-32B0-6ECA-5983-038463C2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97805-38D6-3D4D-3B44-18761A5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19A94-8C93-8522-6A49-92C9C7D6B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MX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7AF65-6624-4A09-CF26-49F82224F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7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1996-771C-AF88-9FF7-02BD08B3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54F0D-D932-F570-18EF-B89B62AB6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5EB21-140F-B030-AF34-0FC5553C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8477C-67CC-F87F-BCF2-6632DB260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9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3D36E-8C93-AA8E-6D73-8A9D064CF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648BD-2A13-A0FC-5F82-62E925C9C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987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466D7-5BF6-3C45-2D3E-95DD5EA1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806DF-5C74-B2EE-8B74-9A7C11186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506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DA8D-1C4C-6C0C-6680-974991EA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B8E5A9-FD6A-E709-D6CD-83526756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448720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0C4A7-164F-4522-407E-9C58BD6F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6C0A6-13D6-C0E2-33DD-F740EBE29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31082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5685D2-8839-DB84-E94F-86ABD960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531082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9031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8985-A884-33B6-A5C4-6229362E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437962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79CAA-E2FB-8214-E69B-6B53640C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421802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3D52DA-C243-423E-7757-7907C3F7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421802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3BDDEA-FB73-D4D0-4B42-452445775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438653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D4B2E4-6B42-396B-49B7-1C52C8BBD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438653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3952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A7A38-5D56-DC27-913D-C173D492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646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621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449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05C6-61F2-3983-167A-12F8C51E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EB4C0-DB25-B568-926E-B3F21BF09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85BE7F-8669-5878-6F60-DB1C00259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876572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D74E3-94FC-0905-2E2D-5594D6E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8F562C-DB4C-DB51-CECD-54FE70D1E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F7A880-331C-75F9-4210-7C585B0DE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10694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572645"/>
      </p:ext>
    </p:extLst>
  </p:cSld>
  <p:clrMapOvr>
    <a:masterClrMapping/>
  </p:clrMapOvr>
  <p:transition spd="med"/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650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632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890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01553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21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363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469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34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0417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1830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344409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681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99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644860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4256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5776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833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710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11373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53430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onalTi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7F8C0BA-ABFB-D24B-8E8C-AF01805B429E}"/>
              </a:ext>
            </a:extLst>
          </p:cNvPr>
          <p:cNvSpPr/>
          <p:nvPr/>
        </p:nvSpPr>
        <p:spPr>
          <a:xfrm>
            <a:off x="113482" y="-793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176A91D-80DE-5C4F-89B9-1052F704A764}"/>
              </a:ext>
            </a:extLst>
          </p:cNvPr>
          <p:cNvSpPr/>
          <p:nvPr/>
        </p:nvSpPr>
        <p:spPr>
          <a:xfrm>
            <a:off x="2066015" y="2754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CC5C448E-FFD9-8148-BFA8-17FB298427A7}"/>
              </a:ext>
            </a:extLst>
          </p:cNvPr>
          <p:cNvSpPr/>
          <p:nvPr/>
        </p:nvSpPr>
        <p:spPr>
          <a:xfrm>
            <a:off x="4018546" y="1344783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87BC6EE9-3A09-4A4B-9CBD-6E70BF05776F}"/>
              </a:ext>
            </a:extLst>
          </p:cNvPr>
          <p:cNvSpPr/>
          <p:nvPr/>
        </p:nvSpPr>
        <p:spPr>
          <a:xfrm>
            <a:off x="5977801" y="24030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1CF31CCF-43E0-EC4F-8EC6-61145526B20F}"/>
              </a:ext>
            </a:extLst>
          </p:cNvPr>
          <p:cNvSpPr/>
          <p:nvPr/>
        </p:nvSpPr>
        <p:spPr>
          <a:xfrm>
            <a:off x="7929901" y="3466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301C0A40-E5E2-5B44-B6B0-C8246524DD0F}"/>
              </a:ext>
            </a:extLst>
          </p:cNvPr>
          <p:cNvSpPr/>
          <p:nvPr/>
        </p:nvSpPr>
        <p:spPr>
          <a:xfrm>
            <a:off x="2289372" y="-11199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66D5862-4E08-FC46-B07E-06AE6BA45044}"/>
              </a:ext>
            </a:extLst>
          </p:cNvPr>
          <p:cNvSpPr/>
          <p:nvPr/>
        </p:nvSpPr>
        <p:spPr>
          <a:xfrm>
            <a:off x="4241906" y="-507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673D5BAE-8682-384A-B96F-8181A5103FEC}"/>
              </a:ext>
            </a:extLst>
          </p:cNvPr>
          <p:cNvSpPr/>
          <p:nvPr/>
        </p:nvSpPr>
        <p:spPr>
          <a:xfrm>
            <a:off x="6194437" y="1018647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865A1089-9F09-CA45-A7F4-EDCD013EA5FC}"/>
              </a:ext>
            </a:extLst>
          </p:cNvPr>
          <p:cNvSpPr/>
          <p:nvPr/>
        </p:nvSpPr>
        <p:spPr>
          <a:xfrm>
            <a:off x="8153692" y="20768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8D5416F1-E606-CF49-B589-FEEFA9075992}"/>
              </a:ext>
            </a:extLst>
          </p:cNvPr>
          <p:cNvSpPr/>
          <p:nvPr/>
        </p:nvSpPr>
        <p:spPr>
          <a:xfrm>
            <a:off x="10105792" y="31406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91D8D386-27AF-B044-88D1-CBAEF2353601}"/>
              </a:ext>
            </a:extLst>
          </p:cNvPr>
          <p:cNvSpPr/>
          <p:nvPr/>
        </p:nvSpPr>
        <p:spPr>
          <a:xfrm>
            <a:off x="4286716" y="-15368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50CF83A4-E418-594D-866A-55092C5B60AD}"/>
              </a:ext>
            </a:extLst>
          </p:cNvPr>
          <p:cNvSpPr/>
          <p:nvPr/>
        </p:nvSpPr>
        <p:spPr>
          <a:xfrm>
            <a:off x="6239249" y="-4676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5FD6100-0E1E-D74C-ACA3-25F795762653}"/>
              </a:ext>
            </a:extLst>
          </p:cNvPr>
          <p:cNvSpPr/>
          <p:nvPr/>
        </p:nvSpPr>
        <p:spPr>
          <a:xfrm>
            <a:off x="8191780" y="601739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D19A5B11-154F-2A44-8B88-A47A16621791}"/>
              </a:ext>
            </a:extLst>
          </p:cNvPr>
          <p:cNvSpPr/>
          <p:nvPr/>
        </p:nvSpPr>
        <p:spPr>
          <a:xfrm>
            <a:off x="10151035" y="16599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D8229943-BA11-DD46-B119-B762482373DA}"/>
              </a:ext>
            </a:extLst>
          </p:cNvPr>
          <p:cNvSpPr/>
          <p:nvPr/>
        </p:nvSpPr>
        <p:spPr>
          <a:xfrm>
            <a:off x="12103135" y="27237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2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47323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0205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do Neg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27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873158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7.sv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7.sv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3B51F0F3-F787-7DA4-A454-2C9C6895CE9A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347" y="-54819"/>
            <a:ext cx="5829300" cy="5056742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882DBA80-EC55-28CF-54FC-1937C252447D}"/>
              </a:ext>
            </a:extLst>
          </p:cNvPr>
          <p:cNvGrpSpPr/>
          <p:nvPr/>
        </p:nvGrpSpPr>
        <p:grpSpPr>
          <a:xfrm>
            <a:off x="124688" y="17508"/>
            <a:ext cx="8943593" cy="4984415"/>
            <a:chOff x="166250" y="23344"/>
            <a:chExt cx="11924791" cy="6645886"/>
          </a:xfrm>
        </p:grpSpPr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83CC4FE1-072C-F7D6-505E-9E94AF1CB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80309" y="23344"/>
              <a:ext cx="1210732" cy="681037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F64D21AB-CC81-6EDC-0026-CD1986FC7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6250" y="160009"/>
              <a:ext cx="361950" cy="383241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53D057C2-A169-303F-571B-0D4723013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6200000">
              <a:off x="11651925" y="6296634"/>
              <a:ext cx="361950" cy="383241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B0F2B6-03A3-E5EA-5E3D-0F858692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53158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41683-EA1A-B420-F4A0-914017E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53158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</p:txBody>
      </p:sp>
    </p:spTree>
    <p:extLst>
      <p:ext uri="{BB962C8B-B14F-4D97-AF65-F5344CB8AC3E}">
        <p14:creationId xmlns:p14="http://schemas.microsoft.com/office/powerpoint/2010/main" val="236100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CDB0EC7-7948-88B0-5346-0ABF375F16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12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4" name="Gráfico 8">
            <a:extLst>
              <a:ext uri="{FF2B5EF4-FFF2-40B4-BE49-F238E27FC236}">
                <a16:creationId xmlns:a16="http://schemas.microsoft.com/office/drawing/2014/main" id="{31D24A6D-8DA3-74C1-A569-520F3D0F929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5" name="Gráfico 9">
            <a:extLst>
              <a:ext uri="{FF2B5EF4-FFF2-40B4-BE49-F238E27FC236}">
                <a16:creationId xmlns:a16="http://schemas.microsoft.com/office/drawing/2014/main" id="{0121A7EA-A248-1AB7-CBCA-C91F60EA88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6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35D4BB-98F4-5099-0C48-131F342678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7" name="Grupo 12">
            <a:extLst>
              <a:ext uri="{FF2B5EF4-FFF2-40B4-BE49-F238E27FC236}">
                <a16:creationId xmlns:a16="http://schemas.microsoft.com/office/drawing/2014/main" id="{A1F13920-8C38-EAB6-0A8B-779662AF9192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11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49CC5EEC-BE5B-68CF-5C0D-51240366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4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2D109848-8233-A172-DEAB-E22D86C1C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4749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2371725"/>
            <a:ext cx="1300163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E0ABE928-D7E4-E2EE-60B1-8EA460690DEE}"/>
              </a:ext>
            </a:extLst>
          </p:cNvPr>
          <p:cNvSpPr/>
          <p:nvPr/>
        </p:nvSpPr>
        <p:spPr>
          <a:xfrm rot="16200000">
            <a:off x="5359414" y="834514"/>
            <a:ext cx="3229523" cy="4339652"/>
          </a:xfrm>
          <a:prstGeom prst="round2SameRect">
            <a:avLst>
              <a:gd name="adj1" fmla="val 4695"/>
              <a:gd name="adj2" fmla="val 0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806F3D2-B39A-C33E-719E-8A8C01114B2A}"/>
              </a:ext>
            </a:extLst>
          </p:cNvPr>
          <p:cNvSpPr/>
          <p:nvPr/>
        </p:nvSpPr>
        <p:spPr>
          <a:xfrm>
            <a:off x="471488" y="576263"/>
            <a:ext cx="2662238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>
              <a:latin typeface="+mj-lt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9844A0C-58E8-E58A-F2D1-DF523FC6E0E4}"/>
              </a:ext>
            </a:extLst>
          </p:cNvPr>
          <p:cNvSpPr/>
          <p:nvPr/>
        </p:nvSpPr>
        <p:spPr>
          <a:xfrm>
            <a:off x="471488" y="258660"/>
            <a:ext cx="3119438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Bienvenidos</a:t>
            </a:r>
            <a:endParaRPr lang="en-US" sz="3600" dirty="0"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26435A1-DDFD-CBB3-401A-34E38DA6ACFE}"/>
              </a:ext>
            </a:extLst>
          </p:cNvPr>
          <p:cNvSpPr/>
          <p:nvPr/>
        </p:nvSpPr>
        <p:spPr>
          <a:xfrm>
            <a:off x="471487" y="746644"/>
            <a:ext cx="3718263" cy="52790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Módulos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</a:t>
            </a: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capacitación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Chat GPT 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de </a:t>
            </a:r>
            <a:r>
              <a:rPr lang="en-US" sz="1000" dirty="0" err="1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Básico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a Avanzado.</a:t>
            </a:r>
            <a:endParaRPr lang="en-US" sz="10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3404380-6690-FA97-CA9D-BF39E99DDF5D}"/>
              </a:ext>
            </a:extLst>
          </p:cNvPr>
          <p:cNvSpPr/>
          <p:nvPr/>
        </p:nvSpPr>
        <p:spPr>
          <a:xfrm>
            <a:off x="471488" y="1259239"/>
            <a:ext cx="3718262" cy="88639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165"/>
              </a:lnSpc>
              <a:buNone/>
            </a:pPr>
            <a:r>
              <a:rPr lang="en-US" sz="24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queremos lograr juntos</a:t>
            </a:r>
            <a:endParaRPr lang="en-US" sz="2400" dirty="0">
              <a:latin typeface="+mj-lt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96F8D63-F762-A57C-2037-9F0529C0B889}"/>
              </a:ext>
            </a:extLst>
          </p:cNvPr>
          <p:cNvSpPr/>
          <p:nvPr/>
        </p:nvSpPr>
        <p:spPr>
          <a:xfrm>
            <a:off x="471488" y="2208153"/>
            <a:ext cx="3718263" cy="244169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b="1" dirty="0"/>
              <a:t>Potenciar la productividad y la eficiencia</a:t>
            </a:r>
            <a:r>
              <a:rPr lang="es-MX" sz="800" dirty="0"/>
              <a:t> en sus tareas diarias mediante la adopción integral de </a:t>
            </a:r>
            <a:r>
              <a:rPr lang="es-MX" sz="800" dirty="0" err="1"/>
              <a:t>ChatGPT</a:t>
            </a:r>
            <a:r>
              <a:rPr lang="es-MX" sz="800" dirty="0"/>
              <a:t> Enterprise como asistente personal. Buscamos que todo el equipo adquiera las competencias necesarias para utilizar esta herramienta de forma </a:t>
            </a:r>
            <a:r>
              <a:rPr lang="es-MX" sz="800" b="1" dirty="0"/>
              <a:t>segura, autónoma y responsable</a:t>
            </a:r>
            <a:r>
              <a:rPr lang="es-MX" sz="800" dirty="0"/>
              <a:t>, reduciendo la curva de aprendizaje y garantizando el cumplimiento de las políticas de seguridad de la información de </a:t>
            </a:r>
            <a:r>
              <a:rPr lang="es-MX" sz="800" dirty="0" err="1"/>
              <a:t>Solclef</a:t>
            </a:r>
            <a:r>
              <a:rPr lang="es-MX" sz="800" dirty="0"/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dirty="0"/>
              <a:t>A través de un enfoque práctico y personalizado, trabajaremos con </a:t>
            </a:r>
            <a:r>
              <a:rPr lang="es-MX" sz="800" b="1" dirty="0"/>
              <a:t>casos de uso reales adaptados a sus diferentes áreas, </a:t>
            </a:r>
            <a:r>
              <a:rPr lang="es-MX" sz="800" dirty="0"/>
              <a:t>para asegurar una aplicación inmediata al puesto de trabajo. Esta iniciativa no solo habilitará el uso cotidiano de la inteligencia artificial, sino que también formará a un grupo de expertos internos encargados de liderar la innovación continua y maximizar el valor de esta tecnología en la organización."</a:t>
            </a:r>
            <a:endParaRPr lang="es-MX" sz="800" dirty="0">
              <a:effectLst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EA5980D-B88E-9B0D-8FFD-1599FB9EE192}"/>
              </a:ext>
            </a:extLst>
          </p:cNvPr>
          <p:cNvSpPr/>
          <p:nvPr/>
        </p:nvSpPr>
        <p:spPr>
          <a:xfrm>
            <a:off x="461962" y="3714750"/>
            <a:ext cx="2857500" cy="928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61790544-72EE-7509-C2D8-36EEE490D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9023" y="2224817"/>
            <a:ext cx="3593586" cy="1158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76200"/>
            <a:ext cx="4929188" cy="498633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712369" y="205928"/>
            <a:ext cx="171450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87"/>
              </a:lnSpc>
              <a:buNone/>
            </a:pP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vamos a hacer </a:t>
            </a:r>
            <a:r>
              <a:rPr lang="en-US" sz="9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hoy</a:t>
            </a:r>
            <a:endParaRPr lang="en-US" sz="9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4DBF2E3-FD23-ABA1-3589-3B1F359A4875}"/>
              </a:ext>
            </a:extLst>
          </p:cNvPr>
          <p:cNvSpPr/>
          <p:nvPr/>
        </p:nvSpPr>
        <p:spPr>
          <a:xfrm>
            <a:off x="3393282" y="379476"/>
            <a:ext cx="2352675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3 </a:t>
            </a:r>
            <a:endParaRPr lang="en-US" sz="36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CD312B3-910A-C9DC-453B-5A710E68463D}"/>
              </a:ext>
            </a:extLst>
          </p:cNvPr>
          <p:cNvSpPr>
            <a:spLocks/>
          </p:cNvSpPr>
          <p:nvPr/>
        </p:nvSpPr>
        <p:spPr>
          <a:xfrm>
            <a:off x="1751876" y="1082207"/>
            <a:ext cx="5816418" cy="385536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 dirty="0">
              <a:ln w="12700">
                <a:solidFill>
                  <a:schemeClr val="accent1"/>
                </a:solidFill>
              </a:ln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FE912FF-D501-03E7-D1C8-B3EBBD0443F6}"/>
              </a:ext>
            </a:extLst>
          </p:cNvPr>
          <p:cNvSpPr/>
          <p:nvPr/>
        </p:nvSpPr>
        <p:spPr>
          <a:xfrm>
            <a:off x="3018743" y="1099999"/>
            <a:ext cx="2105025" cy="23431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D067C68-2A0B-40EA-CBB6-9603204226A9}"/>
              </a:ext>
            </a:extLst>
          </p:cNvPr>
          <p:cNvSpPr/>
          <p:nvPr/>
        </p:nvSpPr>
        <p:spPr>
          <a:xfrm>
            <a:off x="3094943" y="1214299"/>
            <a:ext cx="1952625" cy="21145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33DB898A-BC91-0582-0F8C-E1F7247B9AF3}"/>
              </a:ext>
            </a:extLst>
          </p:cNvPr>
          <p:cNvSpPr/>
          <p:nvPr/>
        </p:nvSpPr>
        <p:spPr>
          <a:xfrm>
            <a:off x="3732506" y="1214299"/>
            <a:ext cx="1952625" cy="2809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5224B60-415A-9EED-1F01-9417C0457EB9}"/>
              </a:ext>
            </a:extLst>
          </p:cNvPr>
          <p:cNvSpPr/>
          <p:nvPr/>
        </p:nvSpPr>
        <p:spPr>
          <a:xfrm>
            <a:off x="3732506" y="1214299"/>
            <a:ext cx="1952625" cy="80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215FD1B-27FC-919A-5D70-D58E1779AF8E}"/>
              </a:ext>
            </a:extLst>
          </p:cNvPr>
          <p:cNvSpPr/>
          <p:nvPr/>
        </p:nvSpPr>
        <p:spPr>
          <a:xfrm>
            <a:off x="2418065" y="1928910"/>
            <a:ext cx="4370000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Aprenderás a organizar mejor un </a:t>
            </a:r>
            <a:r>
              <a:rPr lang="es-MX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prompt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separando instrucciones, datos y salida esperada para obtener respuestas más claras, limpias y reutilizables.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A7AD391-B6FA-DDB7-B9CA-FFDBC1861E06}"/>
              </a:ext>
            </a:extLst>
          </p:cNvPr>
          <p:cNvSpPr/>
          <p:nvPr/>
        </p:nvSpPr>
        <p:spPr>
          <a:xfrm>
            <a:off x="2985545" y="1127373"/>
            <a:ext cx="3172910" cy="54104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1780"/>
              </a:lnSpc>
              <a:buNone/>
            </a:pP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Cómo pedirle bien a </a:t>
            </a:r>
            <a:r>
              <a:rPr lang="es-MX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y conocer su interfaz</a:t>
            </a:r>
            <a:endParaRPr lang="en-US" sz="1400" b="1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74D6384-50AC-D368-8BF7-D98885B4EDAD}"/>
              </a:ext>
            </a:extLst>
          </p:cNvPr>
          <p:cNvSpPr/>
          <p:nvPr/>
        </p:nvSpPr>
        <p:spPr>
          <a:xfrm>
            <a:off x="2411077" y="1684527"/>
            <a:ext cx="4370000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Prompts</a:t>
            </a: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estructurados para ganar control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CA2EE6B7-2DFC-B578-A201-7CEDF90EEA5B}"/>
              </a:ext>
            </a:extLst>
          </p:cNvPr>
          <p:cNvSpPr/>
          <p:nvPr/>
        </p:nvSpPr>
        <p:spPr>
          <a:xfrm>
            <a:off x="2571378" y="4542406"/>
            <a:ext cx="3104115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Sesión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preguntas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(10 Min)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47C18BE-DD4A-B1F4-9C7F-066351593611}"/>
              </a:ext>
            </a:extLst>
          </p:cNvPr>
          <p:cNvSpPr/>
          <p:nvPr/>
        </p:nvSpPr>
        <p:spPr>
          <a:xfrm>
            <a:off x="2418065" y="2643379"/>
            <a:ext cx="4370000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Verás cómo dividir tareas complejas en pasos para evitar que </a:t>
            </a:r>
            <a:r>
              <a:rPr lang="es-MX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mezcle análisis, decisiones y redacción en una sola respuesta.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29C4D66-395A-C961-EC81-3940951D9C7C}"/>
              </a:ext>
            </a:extLst>
          </p:cNvPr>
          <p:cNvSpPr/>
          <p:nvPr/>
        </p:nvSpPr>
        <p:spPr>
          <a:xfrm>
            <a:off x="2411077" y="2398996"/>
            <a:ext cx="4370000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Flujos de trabajo controlados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3832A90-88A9-0B27-C280-A6A5D230971F}"/>
              </a:ext>
            </a:extLst>
          </p:cNvPr>
          <p:cNvSpPr/>
          <p:nvPr/>
        </p:nvSpPr>
        <p:spPr>
          <a:xfrm>
            <a:off x="2418065" y="3357848"/>
            <a:ext cx="4370000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Trabajarás cómo validar una respuesta antes de usarla, aplicar criterios de calidad, evitar invenciones y usar evidencia para responder mejor.</a:t>
            </a: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48F665FB-D5F6-54D4-0DED-CFEE37C450B0}"/>
              </a:ext>
            </a:extLst>
          </p:cNvPr>
          <p:cNvSpPr/>
          <p:nvPr/>
        </p:nvSpPr>
        <p:spPr>
          <a:xfrm>
            <a:off x="2411077" y="3113465"/>
            <a:ext cx="4370000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Calidad, seguridad y aplicación práctica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09C24FE0-B1BE-1B93-4C6D-B996CB5BA985}"/>
              </a:ext>
            </a:extLst>
          </p:cNvPr>
          <p:cNvSpPr/>
          <p:nvPr/>
        </p:nvSpPr>
        <p:spPr>
          <a:xfrm>
            <a:off x="2418065" y="4072317"/>
            <a:ext cx="4370000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Recorrerás las funciones principales de la interfaz, </a:t>
            </a:r>
            <a:r>
              <a:rPr lang="es-MX" sz="9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como barra lateral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, nuevo chat, búsqueda, biblioteca, aplicaciones y herramientas disponibles.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4006B0AB-BA1D-2DDE-B1FA-416927BB54A6}"/>
              </a:ext>
            </a:extLst>
          </p:cNvPr>
          <p:cNvSpPr/>
          <p:nvPr/>
        </p:nvSpPr>
        <p:spPr>
          <a:xfrm>
            <a:off x="2411077" y="3827934"/>
            <a:ext cx="4370000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Conociendo el </a:t>
            </a:r>
            <a:r>
              <a:rPr lang="es-MX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Frontend</a:t>
            </a: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s-MX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3F855CD-16DE-3A0E-EDC5-DC8867C2A8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3D3032-9BCF-C874-DE96-2F04473BCBE2}"/>
              </a:ext>
            </a:extLst>
          </p:cNvPr>
          <p:cNvSpPr txBox="1">
            <a:spLocks/>
          </p:cNvSpPr>
          <p:nvPr/>
        </p:nvSpPr>
        <p:spPr>
          <a:xfrm>
            <a:off x="1387956" y="2025486"/>
            <a:ext cx="6368089" cy="100642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Roboto Slab Medium" pitchFamily="2" charset="0"/>
                <a:ea typeface="Roboto Slab Medium" pitchFamily="2" charset="0"/>
                <a:cs typeface="+mj-cs"/>
              </a:defRPr>
            </a:lvl1pPr>
          </a:lstStyle>
          <a:p>
            <a:pPr algn="ctr"/>
            <a:r>
              <a:rPr lang="es-MX" dirty="0" err="1"/>
              <a:t>Prompts</a:t>
            </a:r>
            <a:r>
              <a:rPr lang="es-MX" dirty="0"/>
              <a:t> estructurados para ganar control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B6BB9D-0718-A2E2-191F-3CA40067A5DF}"/>
              </a:ext>
            </a:extLst>
          </p:cNvPr>
          <p:cNvSpPr/>
          <p:nvPr/>
        </p:nvSpPr>
        <p:spPr>
          <a:xfrm>
            <a:off x="1817753" y="1470804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Del Módulo 2 al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Cómo pedirle bien a 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prompts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E97797-292C-61B1-41CE-6CC76EA47368}"/>
              </a:ext>
            </a:extLst>
          </p:cNvPr>
          <p:cNvSpPr txBox="1"/>
          <p:nvPr/>
        </p:nvSpPr>
        <p:spPr>
          <a:xfrm>
            <a:off x="3953080" y="1215892"/>
            <a:ext cx="1237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200" b="1" dirty="0">
                <a:solidFill>
                  <a:schemeClr val="tx2"/>
                </a:solidFill>
              </a:rPr>
              <a:t>Continuamos…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782212-F94A-F154-00A6-08E5BEE6E3E5}"/>
              </a:ext>
            </a:extLst>
          </p:cNvPr>
          <p:cNvSpPr txBox="1"/>
          <p:nvPr/>
        </p:nvSpPr>
        <p:spPr>
          <a:xfrm>
            <a:off x="1817753" y="3219291"/>
            <a:ext cx="5508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200" dirty="0"/>
              <a:t>En este capítulo pasamos de “pedir bien” a </a:t>
            </a:r>
            <a:r>
              <a:rPr lang="es-MX" sz="1200" b="1" dirty="0"/>
              <a:t>organizar mejor la información</a:t>
            </a:r>
            <a:r>
              <a:rPr lang="es-MX" sz="1200" dirty="0"/>
              <a:t> dentro del </a:t>
            </a:r>
            <a:r>
              <a:rPr lang="es-MX" sz="1200" dirty="0" err="1"/>
              <a:t>prompt</a:t>
            </a:r>
            <a:r>
              <a:rPr lang="es-MX" sz="1200" dirty="0"/>
              <a:t>. La idea es aprender cómo separar instrucciones, datos y salida esperada para reducir confusión, evitar mezclas y obtener respuestas más limpias, trazables y reutilizables.</a:t>
            </a:r>
          </a:p>
        </p:txBody>
      </p:sp>
    </p:spTree>
    <p:extLst>
      <p:ext uri="{BB962C8B-B14F-4D97-AF65-F5344CB8AC3E}">
        <p14:creationId xmlns:p14="http://schemas.microsoft.com/office/powerpoint/2010/main" val="203127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AF3A-FBE1-76A8-E7F4-DEACAB41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F73F472-E5E6-7EB5-9C02-46707E58D4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DDA0F51D-D802-2C58-8193-A1B4DE07F5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E1AE8E9C-23A9-BA2C-C9A9-66E3D957CACF}"/>
              </a:ext>
            </a:extLst>
          </p:cNvPr>
          <p:cNvSpPr/>
          <p:nvPr/>
        </p:nvSpPr>
        <p:spPr>
          <a:xfrm>
            <a:off x="444866" y="105760"/>
            <a:ext cx="755335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D8170E0-2980-0D81-0C58-4C39A988A856}"/>
              </a:ext>
            </a:extLst>
          </p:cNvPr>
          <p:cNvSpPr/>
          <p:nvPr/>
        </p:nvSpPr>
        <p:spPr>
          <a:xfrm>
            <a:off x="444057" y="403828"/>
            <a:ext cx="4652765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Estructura con XML / delimitadores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29759F-B4C4-D507-5B4D-B9C8C8AB7FA5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B09A67-329A-1350-CC9B-9AC45A473DEC}"/>
              </a:ext>
            </a:extLst>
          </p:cNvPr>
          <p:cNvSpPr txBox="1"/>
          <p:nvPr/>
        </p:nvSpPr>
        <p:spPr>
          <a:xfrm>
            <a:off x="444865" y="1770078"/>
            <a:ext cx="3517535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Separar: </a:t>
            </a:r>
            <a:r>
              <a:rPr lang="es-MX" sz="1000" b="0" dirty="0"/>
              <a:t>Instrucciones vs Datos vs Salida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Delimitadores </a:t>
            </a:r>
            <a:r>
              <a:rPr lang="es-MX" sz="1000" b="0" dirty="0"/>
              <a:t>reducen “mezcla” de contexto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Ideal para: </a:t>
            </a:r>
            <a:r>
              <a:rPr lang="es-MX" sz="1000" b="0" dirty="0"/>
              <a:t>documentos largos, especificaciones, </a:t>
            </a:r>
            <a:r>
              <a:rPr lang="es-MX" sz="1000" b="0" dirty="0" err="1"/>
              <a:t>briefs</a:t>
            </a:r>
            <a:endParaRPr lang="es-MX" sz="1000" b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9889F8-83AE-8B75-2503-68D7902F6F6C}"/>
              </a:ext>
            </a:extLst>
          </p:cNvPr>
          <p:cNvSpPr txBox="1"/>
          <p:nvPr/>
        </p:nvSpPr>
        <p:spPr>
          <a:xfrm>
            <a:off x="444057" y="1321190"/>
            <a:ext cx="5071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Cuando el </a:t>
            </a:r>
            <a:r>
              <a:rPr lang="es-MX" sz="1400" b="1" dirty="0" err="1"/>
              <a:t>prompt</a:t>
            </a:r>
            <a:r>
              <a:rPr lang="es-MX" sz="1400" b="1" dirty="0"/>
              <a:t> mezcla todo, la IA también mezcla todo.</a:t>
            </a:r>
            <a:endParaRPr lang="es-CO" sz="14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68D817-1E02-BE11-50A6-CD706E5B430C}"/>
              </a:ext>
            </a:extLst>
          </p:cNvPr>
          <p:cNvSpPr txBox="1"/>
          <p:nvPr/>
        </p:nvSpPr>
        <p:spPr>
          <a:xfrm>
            <a:off x="469645" y="3397100"/>
            <a:ext cx="357984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Propuesta clara, sin “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features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” inventadas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Si falta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info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, aparece “Preguntas abiertas”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Flujo y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microcopy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alineados a requisitos reales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2B1BC-4034-C20F-5E6C-7245B293F7A8}"/>
              </a:ext>
            </a:extLst>
          </p:cNvPr>
          <p:cNvSpPr txBox="1"/>
          <p:nvPr/>
        </p:nvSpPr>
        <p:spPr>
          <a:xfrm>
            <a:off x="4809437" y="3209214"/>
            <a:ext cx="412190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El XML no es “magia”, </a:t>
            </a:r>
            <a:r>
              <a:rPr lang="es-MX" sz="1400" dirty="0">
                <a:solidFill>
                  <a:srgbClr val="1F1F1F"/>
                </a:solidFill>
              </a:rPr>
              <a:t>es higiene de información.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FF863C-AC26-B907-2FE9-5FF568C6FDA9}"/>
              </a:ext>
            </a:extLst>
          </p:cNvPr>
          <p:cNvSpPr txBox="1"/>
          <p:nvPr/>
        </p:nvSpPr>
        <p:spPr>
          <a:xfrm>
            <a:off x="5022097" y="3654443"/>
            <a:ext cx="3746707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modelo tiende a mezclar todo; los bloques reducen la probabilidad de que trate datos como instrucciones o viceversa.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504C8BB-C064-7D0E-C67C-DED1DB172317}"/>
              </a:ext>
            </a:extLst>
          </p:cNvPr>
          <p:cNvCxnSpPr/>
          <p:nvPr/>
        </p:nvCxnSpPr>
        <p:spPr>
          <a:xfrm>
            <a:off x="4993221" y="3654443"/>
            <a:ext cx="0" cy="7591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E4FF8A-4A01-687C-EB01-31968F7D81B4}"/>
              </a:ext>
            </a:extLst>
          </p:cNvPr>
          <p:cNvSpPr txBox="1"/>
          <p:nvPr/>
        </p:nvSpPr>
        <p:spPr>
          <a:xfrm>
            <a:off x="469645" y="3086103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</p:spTree>
    <p:extLst>
      <p:ext uri="{BB962C8B-B14F-4D97-AF65-F5344CB8AC3E}">
        <p14:creationId xmlns:p14="http://schemas.microsoft.com/office/powerpoint/2010/main" val="99618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41849ACB-1224-76AF-E7BF-8E7687B542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C88ED16-80F8-0325-1BA9-377467C64CBD}"/>
              </a:ext>
            </a:extLst>
          </p:cNvPr>
          <p:cNvSpPr>
            <a:spLocks/>
          </p:cNvSpPr>
          <p:nvPr/>
        </p:nvSpPr>
        <p:spPr>
          <a:xfrm>
            <a:off x="444866" y="1496944"/>
            <a:ext cx="4789122" cy="345626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BE6131-C6C8-4076-EAB8-9E684222D5FF}"/>
              </a:ext>
            </a:extLst>
          </p:cNvPr>
          <p:cNvSpPr txBox="1"/>
          <p:nvPr/>
        </p:nvSpPr>
        <p:spPr>
          <a:xfrm>
            <a:off x="613991" y="1563082"/>
            <a:ext cx="44480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Comparar una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pre-nómina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con una nómina final sin mezclar reglas, datos y salida esperada.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RRHH y Finanzas tienen información dispersa sobre horas extra, ausencias, bonos y deducciones. Necesitan revisar diferencias entre una versión preliminar y la versión final, dejar visibles los casos dudosos y preparar una salida utilizable para seguimiento interno.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Objetivos: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Detectar diferencias entre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pre-nómina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y nómina final.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Evitar que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ChatGPT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mezcle instrucciones con datos.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Marcar PENDIENTE cuando falte información.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Obtener una salida ordenada: tabla + pendientes + borrador de correo.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E907CB-234A-0E42-E02D-0FF353AD2C1B}"/>
              </a:ext>
            </a:extLst>
          </p:cNvPr>
          <p:cNvSpPr txBox="1"/>
          <p:nvPr/>
        </p:nvSpPr>
        <p:spPr>
          <a:xfrm>
            <a:off x="8258129" y="513572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CU-9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B2412A-90CC-41A2-02DB-A0D41D8AD29C}"/>
              </a:ext>
            </a:extLst>
          </p:cNvPr>
          <p:cNvSpPr txBox="1"/>
          <p:nvPr/>
        </p:nvSpPr>
        <p:spPr>
          <a:xfrm>
            <a:off x="5529064" y="2102134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F3F3DA5-A538-D85D-0CA9-C0E4E19FEFEC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7A2DBA4F-702E-F07B-B3D9-0616928AFE34}"/>
              </a:ext>
            </a:extLst>
          </p:cNvPr>
          <p:cNvSpPr/>
          <p:nvPr/>
        </p:nvSpPr>
        <p:spPr>
          <a:xfrm>
            <a:off x="444866" y="439956"/>
            <a:ext cx="5460984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Conciliación de nómina (RRHH + Finanzas)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DCC7AF-03DF-D3BB-7112-347B1ABD64F3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2AB81A-78DC-8786-7136-F16630D6F014}"/>
              </a:ext>
            </a:extLst>
          </p:cNvPr>
          <p:cNvSpPr txBox="1"/>
          <p:nvPr/>
        </p:nvSpPr>
        <p:spPr>
          <a:xfrm>
            <a:off x="5529064" y="2406766"/>
            <a:ext cx="3138685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tabla clara, lista para copiar en Excel.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lista de casos que requieren validación.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borrador de correo interno para pedir correcciones.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Cero datos inventados.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329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B4FB-77BD-6895-AC48-D3CD6F60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EE5A94AC-CB33-3ECF-8D14-6FB01E8CB1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54FE562-892F-0B16-2B17-3EB96CA083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5B9D168-CD0E-7DA2-A310-FC8081F5D04A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8A298FB-EED5-3BF5-CAA4-5DB8BB334C55}"/>
              </a:ext>
            </a:extLst>
          </p:cNvPr>
          <p:cNvSpPr/>
          <p:nvPr/>
        </p:nvSpPr>
        <p:spPr>
          <a:xfrm>
            <a:off x="444057" y="403828"/>
            <a:ext cx="4652765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</a:t>
            </a: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“plantilla” reutilizable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C37E77-4383-0326-DD94-BBB6BD4B549A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D506C3-030D-6BD0-CB64-F85C13D586C8}"/>
              </a:ext>
            </a:extLst>
          </p:cNvPr>
          <p:cNvSpPr txBox="1"/>
          <p:nvPr/>
        </p:nvSpPr>
        <p:spPr>
          <a:xfrm>
            <a:off x="444865" y="1790235"/>
            <a:ext cx="4364572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Plantilla </a:t>
            </a:r>
            <a:r>
              <a:rPr lang="es-MX" sz="1000" b="0" dirty="0"/>
              <a:t>= consistencia + escalabilidad + menos retrabajo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Incluye: </a:t>
            </a:r>
            <a:r>
              <a:rPr lang="es-MX" sz="1000" b="0" dirty="0"/>
              <a:t>objetivo, contexto, datos, salida, restricciones, criterios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Agrega “modo QA”: </a:t>
            </a:r>
            <a:r>
              <a:rPr lang="es-MX" sz="1000" b="0" dirty="0"/>
              <a:t>verificación antes de entregar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431009-38BE-72AE-8A4A-DC205BB0B177}"/>
              </a:ext>
            </a:extLst>
          </p:cNvPr>
          <p:cNvSpPr txBox="1"/>
          <p:nvPr/>
        </p:nvSpPr>
        <p:spPr>
          <a:xfrm>
            <a:off x="469645" y="1321190"/>
            <a:ext cx="7400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No se trata de escribir </a:t>
            </a:r>
            <a:r>
              <a:rPr lang="es-MX" sz="1400" b="1" dirty="0" err="1"/>
              <a:t>prompts</a:t>
            </a:r>
            <a:r>
              <a:rPr lang="es-MX" sz="1400" b="1" dirty="0"/>
              <a:t> “bonitos”, sino de trabajar con una base estable.</a:t>
            </a:r>
            <a:endParaRPr lang="es-CO" sz="1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82E240-BB63-B5E4-7C22-70F6790C185F}"/>
              </a:ext>
            </a:extLst>
          </p:cNvPr>
          <p:cNvSpPr txBox="1"/>
          <p:nvPr/>
        </p:nvSpPr>
        <p:spPr>
          <a:xfrm>
            <a:off x="469645" y="3397100"/>
            <a:ext cx="3579841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 estándar copiar y pegar para el equipo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Menos variación en formato/calidad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Iteraciones más rápidas (ajustas secciones, restricciones, criterios)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1E7343-432B-B7A5-765D-4F909744ED3C}"/>
              </a:ext>
            </a:extLst>
          </p:cNvPr>
          <p:cNvSpPr txBox="1"/>
          <p:nvPr/>
        </p:nvSpPr>
        <p:spPr>
          <a:xfrm>
            <a:off x="4809437" y="2467118"/>
            <a:ext cx="412190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“Sistema de trabajo”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E4498AA-ED31-44B1-1F2A-5284F8F21E75}"/>
              </a:ext>
            </a:extLst>
          </p:cNvPr>
          <p:cNvSpPr txBox="1"/>
          <p:nvPr/>
        </p:nvSpPr>
        <p:spPr>
          <a:xfrm>
            <a:off x="5022097" y="2912347"/>
            <a:ext cx="374670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 es solo saber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prompts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, es operar con una plantilla.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32350FE-C2FD-B723-B5A5-C6694FFC1731}"/>
              </a:ext>
            </a:extLst>
          </p:cNvPr>
          <p:cNvCxnSpPr>
            <a:cxnSpLocks/>
          </p:cNvCxnSpPr>
          <p:nvPr/>
        </p:nvCxnSpPr>
        <p:spPr>
          <a:xfrm>
            <a:off x="4993221" y="2912347"/>
            <a:ext cx="0" cy="29751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183830-F626-4088-3AF6-D07C9ACC40D9}"/>
              </a:ext>
            </a:extLst>
          </p:cNvPr>
          <p:cNvSpPr txBox="1"/>
          <p:nvPr/>
        </p:nvSpPr>
        <p:spPr>
          <a:xfrm>
            <a:off x="469645" y="3086103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</p:spTree>
    <p:extLst>
      <p:ext uri="{BB962C8B-B14F-4D97-AF65-F5344CB8AC3E}">
        <p14:creationId xmlns:p14="http://schemas.microsoft.com/office/powerpoint/2010/main" val="157426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2B7A-875B-C491-2413-A33EC906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6EE8BB3-65B8-21D1-9517-7FEF2BDB468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4C6C255-5445-299D-F36D-F60DFC8AD611}"/>
              </a:ext>
            </a:extLst>
          </p:cNvPr>
          <p:cNvSpPr>
            <a:spLocks/>
          </p:cNvSpPr>
          <p:nvPr/>
        </p:nvSpPr>
        <p:spPr>
          <a:xfrm>
            <a:off x="444866" y="1496944"/>
            <a:ext cx="4789122" cy="345626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1AA9DE-B4BE-A9C4-B068-8E553C4C2E84}"/>
              </a:ext>
            </a:extLst>
          </p:cNvPr>
          <p:cNvSpPr txBox="1"/>
          <p:nvPr/>
        </p:nvSpPr>
        <p:spPr>
          <a:xfrm>
            <a:off x="613991" y="1659735"/>
            <a:ext cx="4448087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Crear una plantilla reutilizable para analizar una tabla de indicadores y detectar desvíos, causas probables y acciones sugeridas sin inventar información.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</a:t>
            </a:r>
            <a:r>
              <a:rPr lang="es-MX" sz="1000" dirty="0"/>
              <a:t>En el trabajo diario, distintas personas del equipo revisan datos de operación en Excel o en tablas exportadas: producción, incidencias, tiempos de respuesta, costes, cumplimiento de SLA o productividad.</a:t>
            </a:r>
            <a:br>
              <a:rPr lang="es-MX" sz="1000" dirty="0"/>
            </a:br>
            <a:r>
              <a:rPr lang="es-MX" sz="1000" dirty="0"/>
              <a:t>El problema es que cada uno le pide algo distinto a </a:t>
            </a:r>
            <a:r>
              <a:rPr lang="es-MX" sz="1000" dirty="0" err="1"/>
              <a:t>ChatGPT</a:t>
            </a:r>
            <a:r>
              <a:rPr lang="es-MX" sz="1000" dirty="0"/>
              <a:t>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“mírame esto”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“sácame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insights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”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“dime qué ves”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“hazme un análisis”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3A7D27-7358-8AB4-7111-D0503B215548}"/>
              </a:ext>
            </a:extLst>
          </p:cNvPr>
          <p:cNvSpPr txBox="1"/>
          <p:nvPr/>
        </p:nvSpPr>
        <p:spPr>
          <a:xfrm>
            <a:off x="8258129" y="513572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2CC397-F66C-54A1-5445-A98177F1A0AB}"/>
              </a:ext>
            </a:extLst>
          </p:cNvPr>
          <p:cNvSpPr txBox="1"/>
          <p:nvPr/>
        </p:nvSpPr>
        <p:spPr>
          <a:xfrm>
            <a:off x="5529064" y="808661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Objetivos: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BBDE7D8-F742-B735-CF17-4485AAFA5BA5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C45F1FE-4CCF-A957-6B9D-415320E32272}"/>
              </a:ext>
            </a:extLst>
          </p:cNvPr>
          <p:cNvSpPr/>
          <p:nvPr/>
        </p:nvSpPr>
        <p:spPr>
          <a:xfrm>
            <a:off x="444866" y="483181"/>
            <a:ext cx="546098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Plantilla estándar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1A5FC4-8630-9D04-17D0-2374C3CA3CB4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220C3C5-0EB5-076B-A12F-2B19B33D1544}"/>
              </a:ext>
            </a:extLst>
          </p:cNvPr>
          <p:cNvSpPr txBox="1"/>
          <p:nvPr/>
        </p:nvSpPr>
        <p:spPr>
          <a:xfrm>
            <a:off x="5529064" y="1106178"/>
            <a:ext cx="3559743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Tener una sola plantilla reutilizable para análisis de tablas o </a:t>
            </a:r>
            <a:r>
              <a:rPr lang="es-MX" sz="1000" dirty="0" err="1">
                <a:solidFill>
                  <a:srgbClr val="1F1F1F"/>
                </a:solidFill>
              </a:rPr>
              <a:t>KPIs</a:t>
            </a:r>
            <a:r>
              <a:rPr lang="es-MX" sz="1000" dirty="0">
                <a:solidFill>
                  <a:srgbClr val="1F1F1F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Reducir respuestas vagas o poco accionables.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Forzar una salida consistente entre personas del equipo.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Separar hechos, desvíos, pendientes y acciones sugeridas.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Marcar PENDIENTE si falta información clave.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9FB26D-CD65-7165-3B71-90E7B210487C}"/>
              </a:ext>
            </a:extLst>
          </p:cNvPr>
          <p:cNvSpPr txBox="1"/>
          <p:nvPr/>
        </p:nvSpPr>
        <p:spPr>
          <a:xfrm>
            <a:off x="5529064" y="2885727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A61111-E2F5-FED8-1C2B-949DDC8495E4}"/>
              </a:ext>
            </a:extLst>
          </p:cNvPr>
          <p:cNvSpPr txBox="1"/>
          <p:nvPr/>
        </p:nvSpPr>
        <p:spPr>
          <a:xfrm>
            <a:off x="5529063" y="3155206"/>
            <a:ext cx="3559743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análisis breve, claro y comparable entre periodos o áreas.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tabla con hallazgos principales.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lista de desvíos priorizados.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Acciones sugeridas sin inventar causas no evidenciadas.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formato listo para copiar en correo, acta o presentación.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D313E6A0-B42A-887A-CBD5-8222E9109A55}"/>
              </a:ext>
            </a:extLst>
          </p:cNvPr>
          <p:cNvSpPr/>
          <p:nvPr/>
        </p:nvSpPr>
        <p:spPr>
          <a:xfrm>
            <a:off x="444866" y="899625"/>
            <a:ext cx="4372063" cy="5232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Plantilla estándar para análisis de desvíos operativos</a:t>
            </a:r>
            <a:endParaRPr lang="en-US" sz="14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565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39CF-E170-B6C5-D166-1866BD46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7850ED67-E0B2-5CCA-1FAD-E8551A17AB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F66A38-3514-D3C8-FB16-BDCB1DD7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1712572"/>
            <a:ext cx="6368089" cy="1899751"/>
          </a:xfrm>
        </p:spPr>
        <p:txBody>
          <a:bodyPr wrap="square">
            <a:spAutoFit/>
          </a:bodyPr>
          <a:lstStyle/>
          <a:p>
            <a:pPr algn="ctr"/>
            <a:r>
              <a:rPr lang="es-MX" dirty="0"/>
              <a:t>De </a:t>
            </a:r>
            <a:r>
              <a:rPr lang="es-MX" dirty="0" err="1"/>
              <a:t>prompts</a:t>
            </a:r>
            <a:r>
              <a:rPr lang="es-MX" dirty="0"/>
              <a:t> sueltos a flujos de trabajo controlados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A846040-00CF-9877-0752-878F1F33792C}"/>
              </a:ext>
            </a:extLst>
          </p:cNvPr>
          <p:cNvSpPr/>
          <p:nvPr/>
        </p:nvSpPr>
        <p:spPr>
          <a:xfrm>
            <a:off x="1817753" y="1392771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Cómo pedirle bien a 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prompts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C066BA-A8A2-9ADE-D4EE-48393B1570DA}"/>
              </a:ext>
            </a:extLst>
          </p:cNvPr>
          <p:cNvSpPr txBox="1">
            <a:spLocks/>
          </p:cNvSpPr>
          <p:nvPr/>
        </p:nvSpPr>
        <p:spPr>
          <a:xfrm>
            <a:off x="1856180" y="3729625"/>
            <a:ext cx="5431638" cy="7591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0" indent="17145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0" indent="34290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0" indent="51435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0" indent="68580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1000" b="0" dirty="0"/>
              <a:t>Este capítulo enseña cómo usar </a:t>
            </a:r>
            <a:r>
              <a:rPr lang="es-MX" sz="1000" b="0" dirty="0" err="1"/>
              <a:t>ChatGPT</a:t>
            </a:r>
            <a:r>
              <a:rPr lang="es-MX" sz="1000" b="0" dirty="0"/>
              <a:t> en tareas más complejas sin perder control. En lugar de pedir análisis, decisión y redacción al mismo tiempo, trabajamos por etapas para mejorar calidad, trazabilidad y seguridad en la salida.</a:t>
            </a:r>
            <a:endParaRPr lang="es-CO" sz="1000" dirty="0"/>
          </a:p>
        </p:txBody>
      </p:sp>
    </p:spTree>
    <p:extLst>
      <p:ext uri="{BB962C8B-B14F-4D97-AF65-F5344CB8AC3E}">
        <p14:creationId xmlns:p14="http://schemas.microsoft.com/office/powerpoint/2010/main" val="89565039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5F52-EDA7-4C69-5BCF-D737773C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0ECCB23-1FD3-E43E-1A13-0EBE9D6522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B2874303-6C1E-D5D6-1BAE-7D166180F6D0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1DE4267-3325-047E-F75B-915B5E437113}"/>
              </a:ext>
            </a:extLst>
          </p:cNvPr>
          <p:cNvSpPr/>
          <p:nvPr/>
        </p:nvSpPr>
        <p:spPr>
          <a:xfrm>
            <a:off x="415143" y="416757"/>
            <a:ext cx="8046800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 “hazlo todo” a “flujo controlado”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5B597B-7C7E-6127-4B8D-DDE98AD3A29E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DE9111-44D1-F111-2661-E23BDEF7673A}"/>
              </a:ext>
            </a:extLst>
          </p:cNvPr>
          <p:cNvSpPr txBox="1"/>
          <p:nvPr/>
        </p:nvSpPr>
        <p:spPr>
          <a:xfrm>
            <a:off x="415143" y="1420795"/>
            <a:ext cx="4156857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El error típico: </a:t>
            </a:r>
            <a:r>
              <a:rPr lang="es-MX" sz="1000" b="0" dirty="0"/>
              <a:t>pedir análisis + decisión + redacción + formato en un solo </a:t>
            </a:r>
            <a:r>
              <a:rPr lang="es-MX" sz="1000" b="0" dirty="0" err="1"/>
              <a:t>prompt</a:t>
            </a:r>
            <a:r>
              <a:rPr lang="es-MX" sz="1000" b="0" dirty="0"/>
              <a:t>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Solución: </a:t>
            </a:r>
            <a:r>
              <a:rPr lang="es-MX" sz="1000" b="0" dirty="0"/>
              <a:t>convertir la tarea en un pipeline: extraer → ordenar → decidir → producir → validar.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Beneficio: más control, menos alucinación, mejor calidad y repetibilidad.</a:t>
            </a:r>
            <a:endParaRPr lang="es-MX" sz="1000" b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8721D9-DD15-CE1D-028F-529A606714CA}"/>
              </a:ext>
            </a:extLst>
          </p:cNvPr>
          <p:cNvSpPr txBox="1"/>
          <p:nvPr/>
        </p:nvSpPr>
        <p:spPr>
          <a:xfrm>
            <a:off x="415143" y="842495"/>
            <a:ext cx="4981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Mentalidad de ejecución</a:t>
            </a:r>
            <a:endParaRPr lang="es-CO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519389-6717-6C2E-29AD-78E3A9B6309E}"/>
              </a:ext>
            </a:extLst>
          </p:cNvPr>
          <p:cNvSpPr txBox="1"/>
          <p:nvPr/>
        </p:nvSpPr>
        <p:spPr>
          <a:xfrm>
            <a:off x="415143" y="3438151"/>
            <a:ext cx="3446387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Tarea atómica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46DCD0-A295-095B-D4E5-3305F90D1B7E}"/>
              </a:ext>
            </a:extLst>
          </p:cNvPr>
          <p:cNvSpPr txBox="1"/>
          <p:nvPr/>
        </p:nvSpPr>
        <p:spPr>
          <a:xfrm>
            <a:off x="627803" y="3918255"/>
            <a:ext cx="3766729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Si una instrucción mezcla objetivos (analizar + crear + decidir), el modelo tiende a “rellenar huecos”.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1748E5-E96F-D913-E008-AA8810193B5D}"/>
              </a:ext>
            </a:extLst>
          </p:cNvPr>
          <p:cNvCxnSpPr>
            <a:cxnSpLocks/>
          </p:cNvCxnSpPr>
          <p:nvPr/>
        </p:nvCxnSpPr>
        <p:spPr>
          <a:xfrm>
            <a:off x="546676" y="3930169"/>
            <a:ext cx="0" cy="5045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302258-AB06-4633-B451-42FC816F28ED}"/>
              </a:ext>
            </a:extLst>
          </p:cNvPr>
          <p:cNvSpPr txBox="1"/>
          <p:nvPr/>
        </p:nvSpPr>
        <p:spPr>
          <a:xfrm>
            <a:off x="4749466" y="3817742"/>
            <a:ext cx="3888347" cy="76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“Lee este extracto de reunión, identifica problemas, decide el mejor plan, redacta un correo al proveedor y crea una tabla de seguimiento con fechas.”</a:t>
            </a:r>
            <a:endParaRPr lang="es-MX" sz="1000" i="0" u="none" strike="noStrike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E53BEF-D411-3BF4-068D-103F00DA3BBF}"/>
              </a:ext>
            </a:extLst>
          </p:cNvPr>
          <p:cNvSpPr txBox="1"/>
          <p:nvPr/>
        </p:nvSpPr>
        <p:spPr>
          <a:xfrm>
            <a:off x="4713905" y="3438151"/>
            <a:ext cx="412190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419" sz="1400" b="1" dirty="0">
                <a:solidFill>
                  <a:srgbClr val="1F1F1F"/>
                </a:solidFill>
              </a:rPr>
              <a:t>❌ </a:t>
            </a:r>
            <a:r>
              <a:rPr lang="es-MX" sz="1400" b="1" dirty="0" err="1">
                <a:solidFill>
                  <a:srgbClr val="1F1F1F"/>
                </a:solidFill>
              </a:rPr>
              <a:t>Prompt</a:t>
            </a:r>
            <a:r>
              <a:rPr lang="es-MX" sz="1400" b="1" dirty="0">
                <a:solidFill>
                  <a:srgbClr val="1F1F1F"/>
                </a:solidFill>
              </a:rPr>
              <a:t> no atómico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2045E2-0653-AAE6-2CA0-B4C6E8216AA2}"/>
              </a:ext>
            </a:extLst>
          </p:cNvPr>
          <p:cNvSpPr txBox="1"/>
          <p:nvPr/>
        </p:nvSpPr>
        <p:spPr>
          <a:xfrm>
            <a:off x="4905161" y="1420795"/>
            <a:ext cx="3138685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La idea no es hacer algo más técnico, sino trabajar con una lógica más ordenada: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rimero entender los hechos,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L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uego organizarlos,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espués decidir qué hacer, y al final redactar la salida.</a:t>
            </a:r>
          </a:p>
        </p:txBody>
      </p:sp>
    </p:spTree>
    <p:extLst>
      <p:ext uri="{BB962C8B-B14F-4D97-AF65-F5344CB8AC3E}">
        <p14:creationId xmlns:p14="http://schemas.microsoft.com/office/powerpoint/2010/main" val="283650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EE50-E83F-D76B-92A2-909ACCA3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DC59FDB-80DC-FDDE-E2F1-D859CC8BED53}"/>
              </a:ext>
            </a:extLst>
          </p:cNvPr>
          <p:cNvSpPr>
            <a:spLocks/>
          </p:cNvSpPr>
          <p:nvPr/>
        </p:nvSpPr>
        <p:spPr>
          <a:xfrm>
            <a:off x="444866" y="1496944"/>
            <a:ext cx="5024190" cy="345626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2B6395-6EAA-F78E-5244-AE159F4E7924}"/>
              </a:ext>
            </a:extLst>
          </p:cNvPr>
          <p:cNvSpPr txBox="1"/>
          <p:nvPr/>
        </p:nvSpPr>
        <p:spPr>
          <a:xfrm>
            <a:off x="613991" y="1659735"/>
            <a:ext cx="4726204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Necesitas enviar un email profesional a un proveedor porque una orden de compra aún no ha sido confirmada.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La información clave está dispersa en un extracto de una reunión interna, y no quieres inventar fechas, compromisos ni responsables.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En lugar de pedirle “todo” a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ChatGPT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en un solo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prompt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, usas un flujo controlado por pasos, donde cada salida alimenta la siguiente.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Hubo una reunión interna con compras y operaciones.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Se mencionó que el proveedor no ha confirmado la PO.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retraso puede impactar fechas operativas.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Aún no hay nueva fecha confirmada por el proveedor.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Necesitas un correo claro, firme y profesional, basado solo en hechos reales.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E7B4C2-0568-4A48-7F3A-3274D28225E7}"/>
              </a:ext>
            </a:extLst>
          </p:cNvPr>
          <p:cNvSpPr txBox="1"/>
          <p:nvPr/>
        </p:nvSpPr>
        <p:spPr>
          <a:xfrm>
            <a:off x="8258129" y="5135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7911B0E-30D0-4A3A-79AE-20EF3824A700}"/>
              </a:ext>
            </a:extLst>
          </p:cNvPr>
          <p:cNvSpPr txBox="1"/>
          <p:nvPr/>
        </p:nvSpPr>
        <p:spPr>
          <a:xfrm>
            <a:off x="5795068" y="929734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Objetivos: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C7B3199-E8EA-C177-8579-FA3876858420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2665FD4-67E8-ED6A-B1E1-C021F16C3FA0}"/>
              </a:ext>
            </a:extLst>
          </p:cNvPr>
          <p:cNvSpPr/>
          <p:nvPr/>
        </p:nvSpPr>
        <p:spPr>
          <a:xfrm>
            <a:off x="444866" y="439956"/>
            <a:ext cx="5460984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Flujo controlado de varias acciones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7EF8A2-A971-E555-FB4E-F77D1D49F227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B66E01-47D4-801D-2B22-17ED1BB1343E}"/>
              </a:ext>
            </a:extLst>
          </p:cNvPr>
          <p:cNvSpPr txBox="1"/>
          <p:nvPr/>
        </p:nvSpPr>
        <p:spPr>
          <a:xfrm>
            <a:off x="5795068" y="1227251"/>
            <a:ext cx="3138685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Extraer solo hechos verificables desde el extracto de reunión.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Evitar que </a:t>
            </a:r>
            <a:r>
              <a:rPr lang="es-MX" sz="1000" dirty="0" err="1">
                <a:solidFill>
                  <a:srgbClr val="1F1F1F"/>
                </a:solidFill>
              </a:rPr>
              <a:t>ChatGPT</a:t>
            </a:r>
            <a:r>
              <a:rPr lang="es-MX" sz="1000" dirty="0">
                <a:solidFill>
                  <a:srgbClr val="1F1F1F"/>
                </a:solidFill>
              </a:rPr>
              <a:t> invente fechas o compromisos.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Redactar un email listo para enviar al proveedor.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Mantener trazabilidad: saber de dónde sale cada dato.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Aplicar mentalidad de tarea atómica (un objetivo por paso).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9603E4-ACFB-1DAF-2AC5-83D764299F29}"/>
              </a:ext>
            </a:extLst>
          </p:cNvPr>
          <p:cNvSpPr txBox="1"/>
          <p:nvPr/>
        </p:nvSpPr>
        <p:spPr>
          <a:xfrm>
            <a:off x="5795068" y="3474334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2ABE58-F445-9364-C51C-1BC72BAC7CBD}"/>
              </a:ext>
            </a:extLst>
          </p:cNvPr>
          <p:cNvSpPr txBox="1"/>
          <p:nvPr/>
        </p:nvSpPr>
        <p:spPr>
          <a:xfrm>
            <a:off x="5795067" y="3743813"/>
            <a:ext cx="3138685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 err="1">
                <a:solidFill>
                  <a:srgbClr val="1F1F1F"/>
                </a:solidFill>
              </a:rPr>
              <a:t>ChatGPT</a:t>
            </a:r>
            <a:r>
              <a:rPr lang="es-MX" sz="1000" dirty="0">
                <a:solidFill>
                  <a:srgbClr val="1F1F1F"/>
                </a:solidFill>
              </a:rPr>
              <a:t> NO redacta el email de inmediato.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Primero devuelve datos estructurados (insumos).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Si falta información crítica, marca PENDIENTE.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El email final es claro, profesional y seguro para enviar.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130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F9D8-1104-FA45-16BD-FFDDAD36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99B2053C-3283-22ED-650E-2546083420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8754FE2D-6412-D6DD-A265-291006D2AD53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8035B5B-4710-91D5-6378-320B0375C711}"/>
              </a:ext>
            </a:extLst>
          </p:cNvPr>
          <p:cNvSpPr/>
          <p:nvPr/>
        </p:nvSpPr>
        <p:spPr>
          <a:xfrm>
            <a:off x="415143" y="416757"/>
            <a:ext cx="8046800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</a:t>
            </a: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Chaining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68B4B1D-456D-44FC-F6E0-D29F8E89D002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4C89AA8-01DE-CAE2-A288-361AD580D10D}"/>
              </a:ext>
            </a:extLst>
          </p:cNvPr>
          <p:cNvSpPr txBox="1"/>
          <p:nvPr/>
        </p:nvSpPr>
        <p:spPr>
          <a:xfrm>
            <a:off x="415143" y="1601050"/>
            <a:ext cx="4349804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 err="1"/>
              <a:t>Prompt</a:t>
            </a:r>
            <a:r>
              <a:rPr lang="es-MX" sz="1000" dirty="0"/>
              <a:t> </a:t>
            </a:r>
            <a:r>
              <a:rPr lang="es-MX" sz="1000" dirty="0" err="1"/>
              <a:t>Chaining</a:t>
            </a:r>
            <a:r>
              <a:rPr lang="es-MX" sz="1000" dirty="0"/>
              <a:t> = </a:t>
            </a:r>
            <a:r>
              <a:rPr lang="es-MX" sz="1000" b="0" dirty="0"/>
              <a:t>convertir una tarea grande en </a:t>
            </a:r>
            <a:r>
              <a:rPr lang="es-MX" sz="1000" b="0" dirty="0" err="1"/>
              <a:t>prompts</a:t>
            </a:r>
            <a:r>
              <a:rPr lang="es-MX" sz="1000" b="0" dirty="0"/>
              <a:t> encadenados.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Cada paso tiene: </a:t>
            </a:r>
            <a:r>
              <a:rPr lang="es-MX" sz="1000" b="0" dirty="0"/>
              <a:t>input claro + output esperado + criterio de calidad.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0C7BEA-CB89-3E91-1009-2EBC3CFC96DA}"/>
              </a:ext>
            </a:extLst>
          </p:cNvPr>
          <p:cNvSpPr txBox="1"/>
          <p:nvPr/>
        </p:nvSpPr>
        <p:spPr>
          <a:xfrm>
            <a:off x="415143" y="855015"/>
            <a:ext cx="4981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Dividir tareas complejas en pasos independientes</a:t>
            </a:r>
            <a:endParaRPr lang="es-CO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8FF5EF-AB74-D941-1BDC-614183411431}"/>
              </a:ext>
            </a:extLst>
          </p:cNvPr>
          <p:cNvSpPr txBox="1"/>
          <p:nvPr/>
        </p:nvSpPr>
        <p:spPr>
          <a:xfrm>
            <a:off x="5396951" y="3252458"/>
            <a:ext cx="357984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ChatGPT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devuelve un JSON limpio con datos útiles.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Deja “insumos” para el siguiente paso sin inventar.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5B17CA4-6ACE-DA45-5AC7-BA2A1322D649}"/>
              </a:ext>
            </a:extLst>
          </p:cNvPr>
          <p:cNvSpPr txBox="1"/>
          <p:nvPr/>
        </p:nvSpPr>
        <p:spPr>
          <a:xfrm>
            <a:off x="5251997" y="1554654"/>
            <a:ext cx="412190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Tarea atómica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2900429-7C27-8CBD-36A4-BDE93C29B3C1}"/>
              </a:ext>
            </a:extLst>
          </p:cNvPr>
          <p:cNvSpPr txBox="1"/>
          <p:nvPr/>
        </p:nvSpPr>
        <p:spPr>
          <a:xfrm>
            <a:off x="5464658" y="1934245"/>
            <a:ext cx="3304874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Si una instrucción mezcla objetivos (analizar + crear + decidir), el modelo tiende a “rellenar huecos”.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399C9A2-2021-7F17-7978-6AE0F817B5E3}"/>
              </a:ext>
            </a:extLst>
          </p:cNvPr>
          <p:cNvCxnSpPr>
            <a:cxnSpLocks/>
          </p:cNvCxnSpPr>
          <p:nvPr/>
        </p:nvCxnSpPr>
        <p:spPr>
          <a:xfrm>
            <a:off x="5383530" y="1941149"/>
            <a:ext cx="0" cy="5045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A30B6D-B41C-6998-5BE0-02039B56F7A9}"/>
              </a:ext>
            </a:extLst>
          </p:cNvPr>
          <p:cNvSpPr txBox="1"/>
          <p:nvPr/>
        </p:nvSpPr>
        <p:spPr>
          <a:xfrm>
            <a:off x="5396951" y="2842186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19C9ED-3C44-EEA5-7534-A12B1989DAB8}"/>
              </a:ext>
            </a:extLst>
          </p:cNvPr>
          <p:cNvSpPr txBox="1"/>
          <p:nvPr/>
        </p:nvSpPr>
        <p:spPr>
          <a:xfrm>
            <a:off x="696129" y="2842186"/>
            <a:ext cx="4156857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dirty="0"/>
              <a:t>Tres reglas: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Un objetivo por paso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Salida estructurada (JSON, tabla, </a:t>
            </a:r>
            <a:r>
              <a:rPr lang="es-MX" sz="1000" b="0" dirty="0" err="1"/>
              <a:t>bullets</a:t>
            </a:r>
            <a:r>
              <a:rPr lang="es-MX" sz="1000" b="0" dirty="0"/>
              <a:t>)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Reutilización (plantilla por pasos)</a:t>
            </a:r>
          </a:p>
        </p:txBody>
      </p:sp>
    </p:spTree>
    <p:extLst>
      <p:ext uri="{BB962C8B-B14F-4D97-AF65-F5344CB8AC3E}">
        <p14:creationId xmlns:p14="http://schemas.microsoft.com/office/powerpoint/2010/main" val="1902537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4873-DF88-7D4E-725D-1BEB2EC8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AEF3F0A-1B5F-6B5E-3724-6618FDBCD6DB}"/>
              </a:ext>
            </a:extLst>
          </p:cNvPr>
          <p:cNvSpPr>
            <a:spLocks/>
          </p:cNvSpPr>
          <p:nvPr/>
        </p:nvSpPr>
        <p:spPr>
          <a:xfrm>
            <a:off x="82486" y="1096234"/>
            <a:ext cx="5460984" cy="3924088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962A3E-BF60-3ADB-846E-C6C45BD700AF}"/>
              </a:ext>
            </a:extLst>
          </p:cNvPr>
          <p:cNvSpPr txBox="1"/>
          <p:nvPr/>
        </p:nvSpPr>
        <p:spPr>
          <a:xfrm>
            <a:off x="210247" y="1168956"/>
            <a:ext cx="53332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Reunión de producto → requerimientos → backlog → mensaje de alineación.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Usar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ChatGPT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para transformar una reunión de producto sobre un MVP en entregables claros y alineados, paso a paso, sin mezclar tareas: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ntender lo que pasó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O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rdenar requerimientos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riorizar backlog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omunicar alineación al equipo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equipo tuvo una reunión para definir el MVP de una app de reservas.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Hay: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ecisiones tomadas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untos pendientes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iesgos mencionados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La información está en notas desordenadas o transcripción corta y se necesita bajar eso a trabajo accionable.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133874-42A8-C0E6-A136-33500CE724BA}"/>
              </a:ext>
            </a:extLst>
          </p:cNvPr>
          <p:cNvSpPr txBox="1"/>
          <p:nvPr/>
        </p:nvSpPr>
        <p:spPr>
          <a:xfrm>
            <a:off x="8258129" y="51357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374341-F752-04DC-6D9F-703757D345A3}"/>
              </a:ext>
            </a:extLst>
          </p:cNvPr>
          <p:cNvSpPr txBox="1"/>
          <p:nvPr/>
        </p:nvSpPr>
        <p:spPr>
          <a:xfrm>
            <a:off x="5795068" y="1421729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Objetivos: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16B9677-636C-6950-FCE8-BAFC9D0EB6BA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476A832-036E-ACD1-73CC-EEE2002C4F5D}"/>
              </a:ext>
            </a:extLst>
          </p:cNvPr>
          <p:cNvSpPr/>
          <p:nvPr/>
        </p:nvSpPr>
        <p:spPr>
          <a:xfrm>
            <a:off x="444866" y="369068"/>
            <a:ext cx="546098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</a:t>
            </a: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Chaining</a:t>
            </a:r>
            <a:endParaRPr lang="es-MX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FA9719-566E-B6BD-B489-7BB11DD6A4D6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9FB127-8F46-5741-7D25-BA7EF19EDF14}"/>
              </a:ext>
            </a:extLst>
          </p:cNvPr>
          <p:cNvSpPr txBox="1"/>
          <p:nvPr/>
        </p:nvSpPr>
        <p:spPr>
          <a:xfrm>
            <a:off x="5795068" y="1719246"/>
            <a:ext cx="3138685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No perder decisiones clave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No inventar requerimientos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Separar claramente hechos, pendientes y riesgos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Llegar a un mensaje final claro para alinear al equipo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9ADA81-2FB5-642B-C871-B566DBE72C65}"/>
              </a:ext>
            </a:extLst>
          </p:cNvPr>
          <p:cNvSpPr txBox="1"/>
          <p:nvPr/>
        </p:nvSpPr>
        <p:spPr>
          <a:xfrm>
            <a:off x="5795068" y="3129116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AAE726-F972-AAED-260A-6CF1AE195B49}"/>
              </a:ext>
            </a:extLst>
          </p:cNvPr>
          <p:cNvSpPr txBox="1"/>
          <p:nvPr/>
        </p:nvSpPr>
        <p:spPr>
          <a:xfrm>
            <a:off x="5795067" y="3398595"/>
            <a:ext cx="3138685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Que </a:t>
            </a:r>
            <a:r>
              <a:rPr lang="es-MX" sz="1000" dirty="0" err="1">
                <a:solidFill>
                  <a:srgbClr val="1F1F1F"/>
                </a:solidFill>
              </a:rPr>
              <a:t>ChatGPT</a:t>
            </a:r>
            <a:r>
              <a:rPr lang="es-MX" sz="1000" dirty="0">
                <a:solidFill>
                  <a:srgbClr val="1F1F1F"/>
                </a:solidFill>
              </a:rPr>
              <a:t> acompañe el proceso como si fuera un analista de producto, trabajando por etapas, donde la salida de un paso se usa como insumo del siguiente.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3366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45DB-B1EF-D943-FDBB-ACB48B45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86FD09E-9455-70A3-F757-3EE679CFAC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EA6FC981-4AEF-C1D9-430C-D25674EA78F8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673D6351-F903-5E6D-D568-80354A5CA344}"/>
              </a:ext>
            </a:extLst>
          </p:cNvPr>
          <p:cNvSpPr/>
          <p:nvPr/>
        </p:nvSpPr>
        <p:spPr>
          <a:xfrm>
            <a:off x="415143" y="483546"/>
            <a:ext cx="5802777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Manejo de contexto largo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F21822-7CF3-6BA5-0ADC-2A4269D6FF5C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CEB6840-5593-E9DD-6308-13D77772F313}"/>
              </a:ext>
            </a:extLst>
          </p:cNvPr>
          <p:cNvSpPr txBox="1"/>
          <p:nvPr/>
        </p:nvSpPr>
        <p:spPr>
          <a:xfrm>
            <a:off x="415143" y="1277119"/>
            <a:ext cx="5153629" cy="297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dirty="0"/>
              <a:t>Problema: </a:t>
            </a:r>
            <a:r>
              <a:rPr lang="es-MX" sz="1000" b="0" dirty="0"/>
              <a:t>Muchos textos o información → el modelo pierde detalles o mezcla cosas.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441A1B-3EC3-4DA7-C7B5-EE9BC2789432}"/>
              </a:ext>
            </a:extLst>
          </p:cNvPr>
          <p:cNvSpPr txBox="1"/>
          <p:nvPr/>
        </p:nvSpPr>
        <p:spPr>
          <a:xfrm>
            <a:off x="415143" y="991100"/>
            <a:ext cx="63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Si hay mucho texto o muchos datos, primero se ordena. Después se analiza.</a:t>
            </a:r>
            <a:endParaRPr lang="es-CO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9022E8-0096-17A7-C3D3-8A24742248A0}"/>
              </a:ext>
            </a:extLst>
          </p:cNvPr>
          <p:cNvSpPr txBox="1"/>
          <p:nvPr/>
        </p:nvSpPr>
        <p:spPr>
          <a:xfrm>
            <a:off x="5329646" y="3603512"/>
            <a:ext cx="3579841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 diagnóstico claro y una versión mejorada, sin cambiar “la realidad” del contenido.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A2B19B-E0C8-87BB-436E-C4915ED20C4A}"/>
              </a:ext>
            </a:extLst>
          </p:cNvPr>
          <p:cNvSpPr txBox="1"/>
          <p:nvPr/>
        </p:nvSpPr>
        <p:spPr>
          <a:xfrm>
            <a:off x="5437239" y="1845929"/>
            <a:ext cx="412190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El objetivo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EE9805-94BE-7F0B-F7AC-C5C6CF2DDDE2}"/>
              </a:ext>
            </a:extLst>
          </p:cNvPr>
          <p:cNvSpPr txBox="1"/>
          <p:nvPr/>
        </p:nvSpPr>
        <p:spPr>
          <a:xfrm>
            <a:off x="5649900" y="2374278"/>
            <a:ext cx="3304874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No es “ver el razonamiento”, sino reducir errores.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C364345-79E7-5568-EED4-8F602F577FA6}"/>
              </a:ext>
            </a:extLst>
          </p:cNvPr>
          <p:cNvCxnSpPr>
            <a:cxnSpLocks/>
          </p:cNvCxnSpPr>
          <p:nvPr/>
        </p:nvCxnSpPr>
        <p:spPr>
          <a:xfrm>
            <a:off x="5568772" y="2301362"/>
            <a:ext cx="0" cy="5045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2337BF-AA44-E6E5-E454-F6589F05141A}"/>
              </a:ext>
            </a:extLst>
          </p:cNvPr>
          <p:cNvSpPr txBox="1"/>
          <p:nvPr/>
        </p:nvSpPr>
        <p:spPr>
          <a:xfrm>
            <a:off x="5329646" y="3357291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9E8894-CC03-725B-645B-9038C50CF4AB}"/>
              </a:ext>
            </a:extLst>
          </p:cNvPr>
          <p:cNvSpPr txBox="1"/>
          <p:nvPr/>
        </p:nvSpPr>
        <p:spPr>
          <a:xfrm>
            <a:off x="444866" y="2301362"/>
            <a:ext cx="4156857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dirty="0"/>
              <a:t>Solución práctica: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Segmenta </a:t>
            </a:r>
            <a:r>
              <a:rPr lang="es-MX" sz="1000" b="0" dirty="0"/>
              <a:t>(por tema, por tiempo, por actor).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Resume con estructura </a:t>
            </a:r>
            <a:r>
              <a:rPr lang="es-MX" sz="1000" b="0" dirty="0"/>
              <a:t>(no “resumen libre”).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Reinyecta </a:t>
            </a:r>
            <a:r>
              <a:rPr lang="es-MX" sz="1000" b="0" dirty="0"/>
              <a:t>el resumen como “fuente oficial”.</a:t>
            </a:r>
          </a:p>
        </p:txBody>
      </p:sp>
    </p:spTree>
    <p:extLst>
      <p:ext uri="{BB962C8B-B14F-4D97-AF65-F5344CB8AC3E}">
        <p14:creationId xmlns:p14="http://schemas.microsoft.com/office/powerpoint/2010/main" val="237821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1039-3A62-718F-48DC-668F7D8F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C5ECCC2-3460-36F7-457E-E7EA3D21ABB4}"/>
              </a:ext>
            </a:extLst>
          </p:cNvPr>
          <p:cNvSpPr>
            <a:spLocks/>
          </p:cNvSpPr>
          <p:nvPr/>
        </p:nvSpPr>
        <p:spPr>
          <a:xfrm>
            <a:off x="351908" y="1873623"/>
            <a:ext cx="4767100" cy="2801045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F157FA-D344-86B2-E7ED-D4188100092A}"/>
              </a:ext>
            </a:extLst>
          </p:cNvPr>
          <p:cNvSpPr txBox="1"/>
          <p:nvPr/>
        </p:nvSpPr>
        <p:spPr>
          <a:xfrm>
            <a:off x="479669" y="2002687"/>
            <a:ext cx="436175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Extraer hallazgos, desvíos y riesgos de un reporte operativo largo con tablas, observaciones y comentarios de varias áreas, sin inventar causas ni mezclar periodos.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Tienes un reporte mensual extenso de operación con: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KPIs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por semana,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comentarios de supervisores, incidencias, variaciones frente a la meta, y observaciones de diferentes áreas.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contenido está mezclado y es demasiado largo para pedir “analízalo todo” en un solo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prompt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. Se debe convertir en un resumen ejecutivo claro y accionable para una reunión de seguimiento, sin perder información importante.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A780DD-0B64-20E7-9AB7-8258B46D7F12}"/>
              </a:ext>
            </a:extLst>
          </p:cNvPr>
          <p:cNvSpPr txBox="1"/>
          <p:nvPr/>
        </p:nvSpPr>
        <p:spPr>
          <a:xfrm>
            <a:off x="8258129" y="513572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453973-96DC-B5C7-7EDA-203C7146CFE6}"/>
              </a:ext>
            </a:extLst>
          </p:cNvPr>
          <p:cNvSpPr txBox="1"/>
          <p:nvPr/>
        </p:nvSpPr>
        <p:spPr>
          <a:xfrm>
            <a:off x="5525646" y="891698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Objetivos: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1EF97E1-467B-A009-DA3A-1A0B2EE5EE82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0B0A6A7A-5025-7F37-203A-4525A089E9D9}"/>
              </a:ext>
            </a:extLst>
          </p:cNvPr>
          <p:cNvSpPr/>
          <p:nvPr/>
        </p:nvSpPr>
        <p:spPr>
          <a:xfrm>
            <a:off x="444866" y="414154"/>
            <a:ext cx="5651134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Analizar un reporte operativo mensual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84880D-527B-C959-C1F4-91EF729A591F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CE8A75-D835-EBD1-A4D3-9B5B80D841BA}"/>
              </a:ext>
            </a:extLst>
          </p:cNvPr>
          <p:cNvSpPr txBox="1"/>
          <p:nvPr/>
        </p:nvSpPr>
        <p:spPr>
          <a:xfrm>
            <a:off x="5525646" y="1189215"/>
            <a:ext cx="3556748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Identificar los principales desvíos o alertas del reporte.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Separar hechos, patrones y pendientes.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No inventar causas si no están respaldadas por los datos.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Mantener trazabilidad entre el reporte original y el resumen final.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Obtener una salida lista para copiar en correo, acta o presentación.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E7F41F-CB17-D432-0DCF-49E6657C08E7}"/>
              </a:ext>
            </a:extLst>
          </p:cNvPr>
          <p:cNvSpPr txBox="1"/>
          <p:nvPr/>
        </p:nvSpPr>
        <p:spPr>
          <a:xfrm>
            <a:off x="5525646" y="3130155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1AFB32-B370-2485-093D-DA34EE2BC7A1}"/>
              </a:ext>
            </a:extLst>
          </p:cNvPr>
          <p:cNvSpPr txBox="1"/>
          <p:nvPr/>
        </p:nvSpPr>
        <p:spPr>
          <a:xfrm>
            <a:off x="5525645" y="3399634"/>
            <a:ext cx="3556748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resumen ejecutivo breve y accionable.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tabla con hallazgos priorizados.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lista de riesgos o pendientes.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Cero interpretaciones inventadas.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Si falta contexto para explicar un dato, marcar PENDIENTE.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55758AB-F1E5-D345-F750-914661C92AEB}"/>
              </a:ext>
            </a:extLst>
          </p:cNvPr>
          <p:cNvSpPr/>
          <p:nvPr/>
        </p:nvSpPr>
        <p:spPr>
          <a:xfrm>
            <a:off x="479669" y="1176173"/>
            <a:ext cx="4092331" cy="48288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Sin perder hallazgos clave</a:t>
            </a:r>
          </a:p>
        </p:txBody>
      </p:sp>
    </p:spTree>
    <p:extLst>
      <p:ext uri="{BB962C8B-B14F-4D97-AF65-F5344CB8AC3E}">
        <p14:creationId xmlns:p14="http://schemas.microsoft.com/office/powerpoint/2010/main" val="3684351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DA350-C3DC-DD5F-A450-CCF11CE4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D219571-3B66-C010-46CB-0DA434E4DF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246B43-DA29-660E-2DF1-0D314BA4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2083931"/>
            <a:ext cx="6368089" cy="1297278"/>
          </a:xfrm>
        </p:spPr>
        <p:txBody>
          <a:bodyPr wrap="square">
            <a:spAutoFit/>
          </a:bodyPr>
          <a:lstStyle/>
          <a:p>
            <a:pPr algn="ctr"/>
            <a:r>
              <a:rPr lang="es-MX" dirty="0"/>
              <a:t>Calidad, seguridad y aplicación práctica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3139916-3472-4AFA-C1BB-EC141975EF5A}"/>
              </a:ext>
            </a:extLst>
          </p:cNvPr>
          <p:cNvSpPr/>
          <p:nvPr/>
        </p:nvSpPr>
        <p:spPr>
          <a:xfrm>
            <a:off x="1817753" y="1700548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Cómo pedirle bien a 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</a:t>
            </a:r>
            <a:r>
              <a:rPr lang="es-MX" sz="1400" b="1" dirty="0" err="1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prompts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DD8530-8BC3-86C6-DBF3-DE8F9A8BBF69}"/>
              </a:ext>
            </a:extLst>
          </p:cNvPr>
          <p:cNvSpPr txBox="1">
            <a:spLocks/>
          </p:cNvSpPr>
          <p:nvPr/>
        </p:nvSpPr>
        <p:spPr>
          <a:xfrm>
            <a:off x="2230294" y="3456815"/>
            <a:ext cx="4683412" cy="5283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0" indent="17145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0" indent="34290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0" indent="51435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0" indent="685800" algn="l" defTabSz="309563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063" b="1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1000" b="0" dirty="0"/>
              <a:t>Este capítulo busca aprender a crear salidas que cumplen criterios, se pueden revisar y usarse en trabajo real.</a:t>
            </a:r>
            <a:endParaRPr lang="es-CO" sz="1000" dirty="0"/>
          </a:p>
        </p:txBody>
      </p:sp>
    </p:spTree>
    <p:extLst>
      <p:ext uri="{BB962C8B-B14F-4D97-AF65-F5344CB8AC3E}">
        <p14:creationId xmlns:p14="http://schemas.microsoft.com/office/powerpoint/2010/main" val="82049736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6162-DC53-E99D-BB11-D20B6778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8AFAE4D-E7F5-A073-B6CB-4C2016287D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AEEA5011-DE8D-AE0C-5D3A-7A9153C9D61A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EBE8FE59-293B-74E5-4441-492E37C0A87F}"/>
              </a:ext>
            </a:extLst>
          </p:cNvPr>
          <p:cNvSpPr/>
          <p:nvPr/>
        </p:nvSpPr>
        <p:spPr>
          <a:xfrm>
            <a:off x="415143" y="411925"/>
            <a:ext cx="6499463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Verificación previa: </a:t>
            </a: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checklist</a:t>
            </a: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+ versión corregida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4B9283-265C-B01D-3E02-2B7DEF5D7C32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52B3EE-EDD9-7890-644B-76C68D5EF5BF}"/>
              </a:ext>
            </a:extLst>
          </p:cNvPr>
          <p:cNvSpPr txBox="1"/>
          <p:nvPr/>
        </p:nvSpPr>
        <p:spPr>
          <a:xfrm>
            <a:off x="444866" y="3788602"/>
            <a:ext cx="39877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modelo genera correo + tabla donde detecta si se pasó de listo.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Si algo falta (ej. siguiente paso), queda evidenciado para iterar.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716DF9-559E-F009-445A-CA721E168C6E}"/>
              </a:ext>
            </a:extLst>
          </p:cNvPr>
          <p:cNvSpPr txBox="1"/>
          <p:nvPr/>
        </p:nvSpPr>
        <p:spPr>
          <a:xfrm>
            <a:off x="4892783" y="1584586"/>
            <a:ext cx="386947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Tener en cuenta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6DB432-96C3-2FBB-7351-631B3C93F087}"/>
              </a:ext>
            </a:extLst>
          </p:cNvPr>
          <p:cNvSpPr txBox="1"/>
          <p:nvPr/>
        </p:nvSpPr>
        <p:spPr>
          <a:xfrm>
            <a:off x="4987143" y="2081835"/>
            <a:ext cx="3775112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Aclara que “</a:t>
            </a:r>
            <a:r>
              <a:rPr lang="es-MX" sz="1000" b="1" dirty="0" err="1">
                <a:solidFill>
                  <a:srgbClr val="1F1F1F"/>
                </a:solidFill>
              </a:rPr>
              <a:t>auto-revisión</a:t>
            </a:r>
            <a:r>
              <a:rPr lang="es-MX" sz="1000" b="1" dirty="0">
                <a:solidFill>
                  <a:srgbClr val="1F1F1F"/>
                </a:solidFill>
              </a:rPr>
              <a:t>” NO es confiar ciegamente: </a:t>
            </a:r>
            <a:r>
              <a:rPr lang="es-MX" sz="1000" dirty="0">
                <a:solidFill>
                  <a:srgbClr val="1F1F1F"/>
                </a:solidFill>
              </a:rPr>
              <a:t>es una segunda pasada estructurada.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Casos borde</a:t>
            </a:r>
            <a:r>
              <a:rPr lang="es-MX" sz="1000" dirty="0">
                <a:solidFill>
                  <a:srgbClr val="1F1F1F"/>
                </a:solidFill>
              </a:rPr>
              <a:t>: “proveedor no responde”, “fechas contradictorias”, “datos faltantes”.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Enseña la lógica: </a:t>
            </a:r>
            <a:r>
              <a:rPr lang="es-MX" sz="1000" dirty="0">
                <a:solidFill>
                  <a:srgbClr val="1F1F1F"/>
                </a:solidFill>
              </a:rPr>
              <a:t>primero producción, luego auditoría.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Consejo: </a:t>
            </a:r>
            <a:r>
              <a:rPr lang="es-MX" sz="1000" dirty="0">
                <a:solidFill>
                  <a:srgbClr val="1F1F1F"/>
                </a:solidFill>
              </a:rPr>
              <a:t>si tu </a:t>
            </a:r>
            <a:r>
              <a:rPr lang="es-MX" sz="1000" dirty="0" err="1">
                <a:solidFill>
                  <a:srgbClr val="1F1F1F"/>
                </a:solidFill>
              </a:rPr>
              <a:t>checklist</a:t>
            </a:r>
            <a:r>
              <a:rPr lang="es-MX" sz="1000" dirty="0">
                <a:solidFill>
                  <a:srgbClr val="1F1F1F"/>
                </a:solidFill>
              </a:rPr>
              <a:t> es claro, el modelo se vuelve más consistente sin subir complejidad.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E2F529-1A68-F65E-3C20-A1A69A58F63B}"/>
              </a:ext>
            </a:extLst>
          </p:cNvPr>
          <p:cNvCxnSpPr>
            <a:cxnSpLocks/>
          </p:cNvCxnSpPr>
          <p:nvPr/>
        </p:nvCxnSpPr>
        <p:spPr>
          <a:xfrm>
            <a:off x="4892783" y="2081835"/>
            <a:ext cx="0" cy="19902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BE82CE0-9B98-CC3F-7451-926929747178}"/>
              </a:ext>
            </a:extLst>
          </p:cNvPr>
          <p:cNvSpPr txBox="1"/>
          <p:nvPr/>
        </p:nvSpPr>
        <p:spPr>
          <a:xfrm>
            <a:off x="444866" y="3542381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08F558-964E-8D44-DFF7-515742E05597}"/>
              </a:ext>
            </a:extLst>
          </p:cNvPr>
          <p:cNvSpPr txBox="1"/>
          <p:nvPr/>
        </p:nvSpPr>
        <p:spPr>
          <a:xfrm>
            <a:off x="415143" y="1412881"/>
            <a:ext cx="4156857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dirty="0"/>
              <a:t>3 niveles de validación: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 err="1"/>
              <a:t>Checklist</a:t>
            </a:r>
            <a:r>
              <a:rPr lang="es-MX" sz="1000" dirty="0"/>
              <a:t> </a:t>
            </a:r>
            <a:r>
              <a:rPr lang="es-MX" sz="1000" b="0" dirty="0"/>
              <a:t>(cumple formato y requisitos).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Casos borde </a:t>
            </a:r>
            <a:r>
              <a:rPr lang="es-MX" sz="1000" b="0" dirty="0"/>
              <a:t>(inputs incompletos, contradictorios).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 err="1"/>
              <a:t>Auto-revisión</a:t>
            </a:r>
            <a:r>
              <a:rPr lang="es-MX" sz="1000" dirty="0"/>
              <a:t> </a:t>
            </a:r>
            <a:r>
              <a:rPr lang="es-MX" sz="1000" b="0" dirty="0"/>
              <a:t>(que revise contra criterios, no “opine”).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dirty="0">
                <a:solidFill>
                  <a:schemeClr val="accent1"/>
                </a:solidFill>
              </a:rPr>
              <a:t>Técnica: </a:t>
            </a:r>
            <a:r>
              <a:rPr lang="es-MX" sz="1000" dirty="0"/>
              <a:t>“Evalúa tu respuesta con una tabla de cumplimiento”.</a:t>
            </a:r>
            <a:endParaRPr lang="es-MX" sz="1000" b="0" dirty="0"/>
          </a:p>
        </p:txBody>
      </p:sp>
    </p:spTree>
    <p:extLst>
      <p:ext uri="{BB962C8B-B14F-4D97-AF65-F5344CB8AC3E}">
        <p14:creationId xmlns:p14="http://schemas.microsoft.com/office/powerpoint/2010/main" val="288447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AE23-C42B-B2B5-4F4B-765EF4820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B6CFF8B-AE5B-47E5-A0D4-E1B8442813DF}"/>
              </a:ext>
            </a:extLst>
          </p:cNvPr>
          <p:cNvSpPr>
            <a:spLocks/>
          </p:cNvSpPr>
          <p:nvPr/>
        </p:nvSpPr>
        <p:spPr>
          <a:xfrm>
            <a:off x="351908" y="1476956"/>
            <a:ext cx="4767100" cy="3543366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BFE115-1CC7-CF23-86ED-CFA6E856A140}"/>
              </a:ext>
            </a:extLst>
          </p:cNvPr>
          <p:cNvSpPr txBox="1"/>
          <p:nvPr/>
        </p:nvSpPr>
        <p:spPr>
          <a:xfrm>
            <a:off x="479669" y="1695184"/>
            <a:ext cx="4361753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dirty="0"/>
              <a:t>Analizar un gráfico de desempeño operativo a partir de una imagen y revisar si la interpretación es correcta antes de usarla en un informe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 equipo de operaciones o analítica tiene un gráfico exportado como imagen desde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Power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BI, Excel o un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dashboard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s-MX" sz="1000" dirty="0">
              <a:solidFill>
                <a:srgbClr val="1F1F1F"/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Una persona ya pidió a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ChatGPT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una lectura inicial del gráfico, pero antes de llevarla a una presentación o reporte necesita validar que: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 confunda tendencias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 invente causas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o saque conclusiones que la imagen no demuestra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eje claros los vacíos o límites de lectura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264037-FDD2-B721-35FD-19B3A4E01B47}"/>
              </a:ext>
            </a:extLst>
          </p:cNvPr>
          <p:cNvSpPr txBox="1"/>
          <p:nvPr/>
        </p:nvSpPr>
        <p:spPr>
          <a:xfrm>
            <a:off x="8258129" y="51357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C1A75B-F1B7-A2A9-C211-9C1E2193EEDA}"/>
              </a:ext>
            </a:extLst>
          </p:cNvPr>
          <p:cNvSpPr txBox="1"/>
          <p:nvPr/>
        </p:nvSpPr>
        <p:spPr>
          <a:xfrm>
            <a:off x="5435839" y="1392161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Objetivos: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893038B-F8AF-B969-77AA-1ADD16BF5C33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3148097-A95E-D573-FD31-F57327D8CBEA}"/>
              </a:ext>
            </a:extLst>
          </p:cNvPr>
          <p:cNvSpPr/>
          <p:nvPr/>
        </p:nvSpPr>
        <p:spPr>
          <a:xfrm>
            <a:off x="444865" y="415346"/>
            <a:ext cx="5506899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Verificar un análisis de gráfico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C1C828-09F2-FC51-F832-0B07FAF6B293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99883BF-81C7-505F-DD44-DF3F3C3C273A}"/>
              </a:ext>
            </a:extLst>
          </p:cNvPr>
          <p:cNvSpPr txBox="1"/>
          <p:nvPr/>
        </p:nvSpPr>
        <p:spPr>
          <a:xfrm>
            <a:off x="5435839" y="1689678"/>
            <a:ext cx="3556748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Revisar si el análisis realmente se sostiene en la imagen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Detectar afirmaciones dudosas o exageradas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Separar observaciones, riesgos e hipótesis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Obtener una versión corregida lista para usar en reporte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3E3D1C-7EF3-1E10-8CA5-C7016F159D4B}"/>
              </a:ext>
            </a:extLst>
          </p:cNvPr>
          <p:cNvSpPr txBox="1"/>
          <p:nvPr/>
        </p:nvSpPr>
        <p:spPr>
          <a:xfrm>
            <a:off x="5435839" y="3184343"/>
            <a:ext cx="3138685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Qué se espera: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6C81BC-7C19-6FF8-8EF9-38A93EEC8D05}"/>
              </a:ext>
            </a:extLst>
          </p:cNvPr>
          <p:cNvSpPr txBox="1"/>
          <p:nvPr/>
        </p:nvSpPr>
        <p:spPr>
          <a:xfrm>
            <a:off x="5435838" y="3453822"/>
            <a:ext cx="3556748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</a:t>
            </a:r>
            <a:r>
              <a:rPr lang="es-MX" sz="1000" dirty="0" err="1">
                <a:solidFill>
                  <a:srgbClr val="1F1F1F"/>
                </a:solidFill>
              </a:rPr>
              <a:t>checklist</a:t>
            </a:r>
            <a:r>
              <a:rPr lang="es-MX" sz="1000" dirty="0">
                <a:solidFill>
                  <a:srgbClr val="1F1F1F"/>
                </a:solidFill>
              </a:rPr>
              <a:t> de validación breve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Señales de error o </a:t>
            </a:r>
            <a:r>
              <a:rPr lang="es-MX" sz="1000" dirty="0" err="1">
                <a:solidFill>
                  <a:srgbClr val="1F1F1F"/>
                </a:solidFill>
              </a:rPr>
              <a:t>sobreinterpretación</a:t>
            </a:r>
            <a:endParaRPr lang="es-MX" sz="1000" dirty="0">
              <a:solidFill>
                <a:srgbClr val="1F1F1F"/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Una versión corregida del análisis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PENDIENTE si la imagen no permite confirmar algo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0381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544E-6C94-EF38-A14C-7683380CA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CB70063-1EB3-433F-FB98-C7195A3DDE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7AC1A2C2-D313-BC20-197E-9436B0FC822E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C6D268D-7282-8E7D-3A68-5DE57CF7EBB1}"/>
              </a:ext>
            </a:extLst>
          </p:cNvPr>
          <p:cNvSpPr/>
          <p:nvPr/>
        </p:nvSpPr>
        <p:spPr>
          <a:xfrm>
            <a:off x="415143" y="431936"/>
            <a:ext cx="6499463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Grounding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649EFF-BEB2-AEC9-F1B9-8305025D09B0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6221360-60F5-600B-2A24-7F36BF9793BE}"/>
              </a:ext>
            </a:extLst>
          </p:cNvPr>
          <p:cNvSpPr txBox="1"/>
          <p:nvPr/>
        </p:nvSpPr>
        <p:spPr>
          <a:xfrm>
            <a:off x="415142" y="888794"/>
            <a:ext cx="5593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Respuestas basadas en evidencia (y cómo frenar la invención)</a:t>
            </a:r>
            <a:endParaRPr lang="es-CO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5CBE8C-8A62-99EF-9FDF-8D63116541B9}"/>
              </a:ext>
            </a:extLst>
          </p:cNvPr>
          <p:cNvSpPr txBox="1"/>
          <p:nvPr/>
        </p:nvSpPr>
        <p:spPr>
          <a:xfrm>
            <a:off x="444866" y="3616230"/>
            <a:ext cx="3987797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Respuesta anclada en texto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Citas cortas como respaldo, nada inventado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Límites de la información visibles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Lista para usar en trabajo real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763FCB5-5932-3AE0-531C-F3F5FF69BABA}"/>
              </a:ext>
            </a:extLst>
          </p:cNvPr>
          <p:cNvSpPr txBox="1"/>
          <p:nvPr/>
        </p:nvSpPr>
        <p:spPr>
          <a:xfrm>
            <a:off x="4892783" y="1653371"/>
            <a:ext cx="386947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Tener en cuenta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E7CC3DB-81A2-C522-6FDF-10D90444F2AB}"/>
              </a:ext>
            </a:extLst>
          </p:cNvPr>
          <p:cNvSpPr txBox="1"/>
          <p:nvPr/>
        </p:nvSpPr>
        <p:spPr>
          <a:xfrm>
            <a:off x="4987143" y="2150620"/>
            <a:ext cx="3775112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Explica por qué la “invención” pasa: </a:t>
            </a:r>
            <a:r>
              <a:rPr lang="es-MX" sz="1000" dirty="0">
                <a:solidFill>
                  <a:srgbClr val="1F1F1F"/>
                </a:solidFill>
              </a:rPr>
              <a:t>el modelo completa patrones.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 err="1">
                <a:solidFill>
                  <a:srgbClr val="1F1F1F"/>
                </a:solidFill>
              </a:rPr>
              <a:t>Grounding</a:t>
            </a:r>
            <a:r>
              <a:rPr lang="es-MX" sz="1000" b="1" dirty="0">
                <a:solidFill>
                  <a:srgbClr val="1F1F1F"/>
                </a:solidFill>
              </a:rPr>
              <a:t> reduce riesgo en: </a:t>
            </a:r>
            <a:r>
              <a:rPr lang="es-MX" sz="1000" dirty="0">
                <a:solidFill>
                  <a:srgbClr val="1F1F1F"/>
                </a:solidFill>
              </a:rPr>
              <a:t>legal, </a:t>
            </a:r>
            <a:r>
              <a:rPr lang="es-MX" sz="1000" dirty="0" err="1">
                <a:solidFill>
                  <a:srgbClr val="1F1F1F"/>
                </a:solidFill>
              </a:rPr>
              <a:t>compliance</a:t>
            </a:r>
            <a:r>
              <a:rPr lang="es-MX" sz="1000" dirty="0">
                <a:solidFill>
                  <a:srgbClr val="1F1F1F"/>
                </a:solidFill>
              </a:rPr>
              <a:t>, finanzas, políticas internas</a:t>
            </a:r>
            <a:r>
              <a:rPr lang="es-MX" sz="1000" b="1" dirty="0">
                <a:solidFill>
                  <a:srgbClr val="1F1F1F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Muestra el patrón </a:t>
            </a:r>
            <a:r>
              <a:rPr lang="es-MX" sz="1000" dirty="0">
                <a:solidFill>
                  <a:srgbClr val="1F1F1F"/>
                </a:solidFill>
              </a:rPr>
              <a:t>“Evidencia → respuesta” como estándar empresarial.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Tip</a:t>
            </a:r>
            <a:r>
              <a:rPr lang="es-MX" sz="1000" dirty="0">
                <a:solidFill>
                  <a:srgbClr val="1F1F1F"/>
                </a:solidFill>
              </a:rPr>
              <a:t>: separar “Datos” de “Instrucciones” con delimitadores reduce confusiones.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EB4E5D0-E7EC-D0A7-0AE1-758A2D8EC28D}"/>
              </a:ext>
            </a:extLst>
          </p:cNvPr>
          <p:cNvCxnSpPr>
            <a:cxnSpLocks/>
          </p:cNvCxnSpPr>
          <p:nvPr/>
        </p:nvCxnSpPr>
        <p:spPr>
          <a:xfrm>
            <a:off x="4892783" y="2150620"/>
            <a:ext cx="0" cy="22211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A65918-ADDD-E59B-D02C-2471E001F088}"/>
              </a:ext>
            </a:extLst>
          </p:cNvPr>
          <p:cNvSpPr txBox="1"/>
          <p:nvPr/>
        </p:nvSpPr>
        <p:spPr>
          <a:xfrm>
            <a:off x="444866" y="3370009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10CC7E-484D-227C-0F20-16DD904332E7}"/>
              </a:ext>
            </a:extLst>
          </p:cNvPr>
          <p:cNvSpPr txBox="1"/>
          <p:nvPr/>
        </p:nvSpPr>
        <p:spPr>
          <a:xfrm>
            <a:off x="415143" y="1271276"/>
            <a:ext cx="4156857" cy="19899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 err="1"/>
              <a:t>Grounding</a:t>
            </a:r>
            <a:r>
              <a:rPr lang="es-MX" sz="1000" dirty="0"/>
              <a:t> = </a:t>
            </a:r>
            <a:r>
              <a:rPr lang="es-MX" sz="1000" b="0" dirty="0"/>
              <a:t>responder con base en una fuente (documento, política, tabla)</a:t>
            </a:r>
            <a:r>
              <a:rPr lang="es-MX" sz="1000" dirty="0"/>
              <a:t>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Sirve para: </a:t>
            </a:r>
            <a:r>
              <a:rPr lang="es-MX" sz="1000" b="0" dirty="0"/>
              <a:t>políticas internas, procedimientos, contratos , tablas y reportes.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Reglas: </a:t>
            </a:r>
            <a:r>
              <a:rPr lang="es-MX" sz="1000" b="0" dirty="0"/>
              <a:t>usar solo el contenido entregado, citar fragmentos como evidencia, si algo no aparece, decir NO ESTÁ ESPECIFICADO.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Patrón: </a:t>
            </a:r>
            <a:r>
              <a:rPr lang="es-MX" sz="1000" b="0" dirty="0"/>
              <a:t>Documento → evidencia → respuesta</a:t>
            </a:r>
          </a:p>
        </p:txBody>
      </p:sp>
    </p:spTree>
    <p:extLst>
      <p:ext uri="{BB962C8B-B14F-4D97-AF65-F5344CB8AC3E}">
        <p14:creationId xmlns:p14="http://schemas.microsoft.com/office/powerpoint/2010/main" val="4252631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5EFE-C00C-2B89-DB1D-DF5F9CAE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3930061-B8DF-F69E-DD02-97864C32D71B}"/>
              </a:ext>
            </a:extLst>
          </p:cNvPr>
          <p:cNvSpPr>
            <a:spLocks/>
          </p:cNvSpPr>
          <p:nvPr/>
        </p:nvSpPr>
        <p:spPr>
          <a:xfrm>
            <a:off x="351908" y="1476956"/>
            <a:ext cx="4767100" cy="3543366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CD7B46-3CF7-14F8-5B0B-85B7B4990FDD}"/>
              </a:ext>
            </a:extLst>
          </p:cNvPr>
          <p:cNvSpPr txBox="1"/>
          <p:nvPr/>
        </p:nvSpPr>
        <p:spPr>
          <a:xfrm>
            <a:off x="479669" y="1695184"/>
            <a:ext cx="4361753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 colaborador recibe una consulta interna sobre la política de devoluciones. Existen dos documentos disponibles (uno resumido y uno de políticas internas). La respuesta debe construirse solo con base en esos textos, citando evidencia y declarando explícitamente cuando algo no esté especificado.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: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Un colaborador del área comercial pregunta</a:t>
            </a: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:“¿En qué casos se aceptan devoluciones y qué pasa si el cliente solicita la devolución después de 30 días?”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Para responder, solo se cuenta con estos documentos: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Política resumida — Devoluciones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Políticas internas — Extractos interpretativos (POL-01 a POL-08)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No se permite usar conocimiento externo ni suposiciones.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D08965-1A8D-5304-4CE8-7568FBEEAECF}"/>
              </a:ext>
            </a:extLst>
          </p:cNvPr>
          <p:cNvSpPr txBox="1"/>
          <p:nvPr/>
        </p:nvSpPr>
        <p:spPr>
          <a:xfrm>
            <a:off x="8258129" y="51357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CU-16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DE8DE2E-AC5B-46FE-252E-F0E0C12CDA19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88A56F4-465F-95D6-207C-FFDFB0DCBFC1}"/>
              </a:ext>
            </a:extLst>
          </p:cNvPr>
          <p:cNvSpPr/>
          <p:nvPr/>
        </p:nvSpPr>
        <p:spPr>
          <a:xfrm>
            <a:off x="444866" y="415346"/>
            <a:ext cx="6233520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Documento → Evidencia → Respuesta.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A35CCB-FDE1-6F1D-ED8B-E0A4665511EA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39A154-BF73-36F3-4FD0-F5D850514E1F}"/>
              </a:ext>
            </a:extLst>
          </p:cNvPr>
          <p:cNvSpPr txBox="1"/>
          <p:nvPr/>
        </p:nvSpPr>
        <p:spPr>
          <a:xfrm>
            <a:off x="5452168" y="1270999"/>
            <a:ext cx="3556748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Objetivos: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Responder únicamente con información presente en los documentos.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Citar fragmentos textuales como evidencia.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Cruzar ambos documentos cuando digan lo mismo.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No inventar excepciones, plazos ni criterios adicionales.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Declarar explícitamente cuando algo NO ESTÁ ESPECIFICADO.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99A7CB-3F7B-29CE-C00F-ED1D1FE6D058}"/>
              </a:ext>
            </a:extLst>
          </p:cNvPr>
          <p:cNvSpPr txBox="1"/>
          <p:nvPr/>
        </p:nvSpPr>
        <p:spPr>
          <a:xfrm>
            <a:off x="5525645" y="3305881"/>
            <a:ext cx="3556748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Qué se espera: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Una respuesta interna clara y usable que: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Explique la política de devoluciones.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Muestre de dónde sale cada afirmación.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Deje visibles los límites de la información disponible.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1562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B11A-010E-92ED-6E57-18259FA9A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D772ADB4-4C64-620F-5A17-EAC159E9FB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95A67DB1-3C6B-52FD-1238-C7BCEE86AC4E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A434E1C-B754-B0D2-3E61-035B0BDFB441}"/>
              </a:ext>
            </a:extLst>
          </p:cNvPr>
          <p:cNvSpPr/>
          <p:nvPr/>
        </p:nvSpPr>
        <p:spPr>
          <a:xfrm>
            <a:off x="381745" y="431936"/>
            <a:ext cx="8347112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Análisis de documento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497D20-F803-88AE-EF8F-0D7871747C7E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0DCA16-EBCE-803E-B4A4-4FF62D0CDA20}"/>
              </a:ext>
            </a:extLst>
          </p:cNvPr>
          <p:cNvSpPr txBox="1"/>
          <p:nvPr/>
        </p:nvSpPr>
        <p:spPr>
          <a:xfrm>
            <a:off x="415143" y="888794"/>
            <a:ext cx="2946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Extraer → comparar → sintetizar</a:t>
            </a:r>
            <a:endParaRPr lang="es-CO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77F4AD-7C88-84F5-F006-BF82408179EE}"/>
              </a:ext>
            </a:extLst>
          </p:cNvPr>
          <p:cNvSpPr txBox="1"/>
          <p:nvPr/>
        </p:nvSpPr>
        <p:spPr>
          <a:xfrm>
            <a:off x="444866" y="3845627"/>
            <a:ext cx="3987797" cy="112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Comparación clara entre versiones.</a:t>
            </a: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Cambios priorizados</a:t>
            </a: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Impacto explicado en lenguaje simple</a:t>
            </a: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Recomendación final usable, nada inventado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3AC42A-072C-329F-F62D-8C310FBB4C04}"/>
              </a:ext>
            </a:extLst>
          </p:cNvPr>
          <p:cNvSpPr txBox="1"/>
          <p:nvPr/>
        </p:nvSpPr>
        <p:spPr>
          <a:xfrm>
            <a:off x="5890445" y="1410799"/>
            <a:ext cx="3073941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Tener en cuenta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330BFE-1AD6-15E1-BE7E-E7C596F38D68}"/>
              </a:ext>
            </a:extLst>
          </p:cNvPr>
          <p:cNvSpPr txBox="1"/>
          <p:nvPr/>
        </p:nvSpPr>
        <p:spPr>
          <a:xfrm>
            <a:off x="5984805" y="1862816"/>
            <a:ext cx="2979581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Dos documentos pueden parecer similares y aun así cambiar reglas clave.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Un cambio pequeño en plazo, condición o aprobación puede afectar la operación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La comparación debe distinguir</a:t>
            </a:r>
            <a:r>
              <a:rPr lang="es-MX" sz="1000" dirty="0">
                <a:solidFill>
                  <a:srgbClr val="1F1F1F"/>
                </a:solidFill>
              </a:rPr>
              <a:t>: cambios de redacción, cambios de criterio, cambios con impacto operativo.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Si un dato no aparece en una versión, debe marcarse como NO ESPECIFICADO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489B49E-CC3A-9699-A5B3-16D45C3B700F}"/>
              </a:ext>
            </a:extLst>
          </p:cNvPr>
          <p:cNvCxnSpPr>
            <a:cxnSpLocks/>
          </p:cNvCxnSpPr>
          <p:nvPr/>
        </p:nvCxnSpPr>
        <p:spPr>
          <a:xfrm>
            <a:off x="5890445" y="1894783"/>
            <a:ext cx="0" cy="25131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EC3643-D072-2812-67E3-7CB7BE8F4602}"/>
              </a:ext>
            </a:extLst>
          </p:cNvPr>
          <p:cNvSpPr txBox="1"/>
          <p:nvPr/>
        </p:nvSpPr>
        <p:spPr>
          <a:xfrm>
            <a:off x="444866" y="3599040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02B7F4-5A37-8152-10C4-934376E18F38}"/>
              </a:ext>
            </a:extLst>
          </p:cNvPr>
          <p:cNvSpPr txBox="1"/>
          <p:nvPr/>
        </p:nvSpPr>
        <p:spPr>
          <a:xfrm>
            <a:off x="415143" y="1196571"/>
            <a:ext cx="5128404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000" dirty="0"/>
              <a:t>Analizar un documento no es solo resumir, también implica</a:t>
            </a:r>
            <a:r>
              <a:rPr lang="es-MX" sz="1000" b="0" dirty="0"/>
              <a:t>: comparar versiones, detectar cambios, identificar riesgos, evaluar impacto.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Útil para</a:t>
            </a:r>
            <a:r>
              <a:rPr lang="es-MX" sz="1000" b="0" dirty="0"/>
              <a:t>: Políticas internas, contratos, comunicados, procedimientos.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Reglas</a:t>
            </a:r>
            <a:r>
              <a:rPr lang="es-MX" sz="1000" b="0" dirty="0"/>
              <a:t>: comparar sobre texto real, no sobre memoria, separar cambios menores de cambios críticos, explicar el impacto del cambio.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Patrón</a:t>
            </a:r>
            <a:r>
              <a:rPr lang="es-MX" sz="1000" b="0" dirty="0"/>
              <a:t>: Versión A → Versión B → diferencia → impacto 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Lo importante no es listar todo, lo importante es saber: qué cambió, qué implica, qué debería revisarse antes de usarlo.</a:t>
            </a:r>
          </a:p>
        </p:txBody>
      </p:sp>
    </p:spTree>
    <p:extLst>
      <p:ext uri="{BB962C8B-B14F-4D97-AF65-F5344CB8AC3E}">
        <p14:creationId xmlns:p14="http://schemas.microsoft.com/office/powerpoint/2010/main" val="2441909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6803-BA16-C5A3-A5E3-20BDC30A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0D1E7CD-61C7-05ED-A232-3DC70DDBA661}"/>
              </a:ext>
            </a:extLst>
          </p:cNvPr>
          <p:cNvSpPr>
            <a:spLocks/>
          </p:cNvSpPr>
          <p:nvPr/>
        </p:nvSpPr>
        <p:spPr>
          <a:xfrm>
            <a:off x="351907" y="1564089"/>
            <a:ext cx="5093671" cy="3240508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5F94F4-2A6A-1350-769E-CA49823BC512}"/>
              </a:ext>
            </a:extLst>
          </p:cNvPr>
          <p:cNvSpPr txBox="1"/>
          <p:nvPr/>
        </p:nvSpPr>
        <p:spPr>
          <a:xfrm>
            <a:off x="479669" y="1701886"/>
            <a:ext cx="4827117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Se tienen dos versiones de una política interna y se necesita revisar qué cambió antes de usar la nueva versión o comunicarla al equipo. El objetivo no es solo detectar diferencias, sino entender su impacto operativo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La revisión debe responder: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Q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ué cambió, qué cambios son más sensibles, qué impacto podrían tener en operación, soporte o experiencia del cliente.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526D04-CF53-1218-12FF-54F223A3FD5F}"/>
              </a:ext>
            </a:extLst>
          </p:cNvPr>
          <p:cNvSpPr txBox="1"/>
          <p:nvPr/>
        </p:nvSpPr>
        <p:spPr>
          <a:xfrm>
            <a:off x="8258129" y="513572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CU-17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8F03656-6A06-406C-D510-57D125C83FC3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8C861C5-0CBD-29D2-394E-112B34B542A2}"/>
              </a:ext>
            </a:extLst>
          </p:cNvPr>
          <p:cNvSpPr/>
          <p:nvPr/>
        </p:nvSpPr>
        <p:spPr>
          <a:xfrm>
            <a:off x="444866" y="457059"/>
            <a:ext cx="6233520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Comparación de dos documentos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904DD8-6E52-77C6-2C22-5AF62756226C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5D0A14-BFCA-FB2E-A91F-FD8EF8838E14}"/>
              </a:ext>
            </a:extLst>
          </p:cNvPr>
          <p:cNvSpPr txBox="1"/>
          <p:nvPr/>
        </p:nvSpPr>
        <p:spPr>
          <a:xfrm>
            <a:off x="5653408" y="1883914"/>
            <a:ext cx="3138685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Objetivos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Comparar ambas versiones con base en el texto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Identificar diferencias relevantes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Priorizar cambios con impacto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Evitar omisiones o interpretaciones inventadas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Entregar una recomendación clara para revisión humana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9FCF07-07BD-1E1B-73D6-02113765A000}"/>
              </a:ext>
            </a:extLst>
          </p:cNvPr>
          <p:cNvSpPr txBox="1"/>
          <p:nvPr/>
        </p:nvSpPr>
        <p:spPr>
          <a:xfrm>
            <a:off x="476250" y="3391679"/>
            <a:ext cx="3556748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Qué se espera que pase: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>
                <a:solidFill>
                  <a:srgbClr val="1F1F1F"/>
                </a:solidFill>
              </a:rPr>
              <a:t>Una salida en 3 partes: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Tabla comparativa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Diferencias priorizadas con impacto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Recomendación final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7265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1D8C-277F-CBF2-B379-39DE6E549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7584B1F9-9EFE-CE46-1EC6-3DE2FF8300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FC457A8F-9850-9160-1352-AB0FEE5F5032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AB9BD3A-9088-7D27-3710-9FC3A6AAFBF3}"/>
              </a:ext>
            </a:extLst>
          </p:cNvPr>
          <p:cNvSpPr/>
          <p:nvPr/>
        </p:nvSpPr>
        <p:spPr>
          <a:xfrm>
            <a:off x="381745" y="431936"/>
            <a:ext cx="8347112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Reutilización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75CAD9-D1D0-315A-BA86-1E28A797C21C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B1C111-A66B-0035-FCCF-5F44112A07A2}"/>
              </a:ext>
            </a:extLst>
          </p:cNvPr>
          <p:cNvSpPr txBox="1"/>
          <p:nvPr/>
        </p:nvSpPr>
        <p:spPr>
          <a:xfrm>
            <a:off x="415142" y="888794"/>
            <a:ext cx="469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Plantillas + </a:t>
            </a:r>
            <a:r>
              <a:rPr lang="es-MX" sz="1400" b="1" dirty="0" err="1"/>
              <a:t>debugging</a:t>
            </a:r>
            <a:r>
              <a:rPr lang="es-MX" sz="1400" b="1" dirty="0"/>
              <a:t> de </a:t>
            </a:r>
            <a:r>
              <a:rPr lang="es-MX" sz="1400" b="1" dirty="0" err="1"/>
              <a:t>prompts</a:t>
            </a:r>
            <a:endParaRPr lang="es-CO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A57403-9BD6-59D4-799C-F046CF596B54}"/>
              </a:ext>
            </a:extLst>
          </p:cNvPr>
          <p:cNvSpPr txBox="1"/>
          <p:nvPr/>
        </p:nvSpPr>
        <p:spPr>
          <a:xfrm>
            <a:off x="444866" y="4061562"/>
            <a:ext cx="398779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Respuestas consistentes entre personas/equipos.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Menos iteraciones y menos riesgo.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27F64F-E90C-F2C9-651D-D086BFBDAA0E}"/>
              </a:ext>
            </a:extLst>
          </p:cNvPr>
          <p:cNvSpPr txBox="1"/>
          <p:nvPr/>
        </p:nvSpPr>
        <p:spPr>
          <a:xfrm>
            <a:off x="4987143" y="1463633"/>
            <a:ext cx="3869474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s-MX" sz="1400" b="1" dirty="0">
                <a:solidFill>
                  <a:srgbClr val="1F1F1F"/>
                </a:solidFill>
              </a:rPr>
              <a:t>Tener en cuenta</a:t>
            </a:r>
            <a:endParaRPr lang="es-MX" sz="1400" dirty="0">
              <a:solidFill>
                <a:srgbClr val="1F1F1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965E10-A8F0-4063-C3B6-7CDD04460CF1}"/>
              </a:ext>
            </a:extLst>
          </p:cNvPr>
          <p:cNvSpPr txBox="1"/>
          <p:nvPr/>
        </p:nvSpPr>
        <p:spPr>
          <a:xfrm>
            <a:off x="5081503" y="1915650"/>
            <a:ext cx="3775112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“</a:t>
            </a:r>
            <a:r>
              <a:rPr lang="es-MX" sz="1000" b="1" dirty="0" err="1">
                <a:solidFill>
                  <a:srgbClr val="1F1F1F"/>
                </a:solidFill>
              </a:rPr>
              <a:t>Prompt</a:t>
            </a:r>
            <a:r>
              <a:rPr lang="es-MX" sz="1000" b="1" dirty="0">
                <a:solidFill>
                  <a:srgbClr val="1F1F1F"/>
                </a:solidFill>
              </a:rPr>
              <a:t> </a:t>
            </a:r>
            <a:r>
              <a:rPr lang="es-MX" sz="1000" b="1" dirty="0" err="1">
                <a:solidFill>
                  <a:srgbClr val="1F1F1F"/>
                </a:solidFill>
              </a:rPr>
              <a:t>Engineering</a:t>
            </a:r>
            <a:r>
              <a:rPr lang="es-MX" sz="1000" b="1" dirty="0">
                <a:solidFill>
                  <a:srgbClr val="1F1F1F"/>
                </a:solidFill>
              </a:rPr>
              <a:t> es diseño + control de calidad”.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 err="1">
                <a:solidFill>
                  <a:srgbClr val="1F1F1F"/>
                </a:solidFill>
              </a:rPr>
              <a:t>Prompt</a:t>
            </a:r>
            <a:r>
              <a:rPr lang="es-MX" sz="1000" dirty="0">
                <a:solidFill>
                  <a:srgbClr val="1F1F1F"/>
                </a:solidFill>
              </a:rPr>
              <a:t> = especificación; </a:t>
            </a:r>
            <a:r>
              <a:rPr lang="es-MX" sz="1000" b="1" dirty="0">
                <a:solidFill>
                  <a:srgbClr val="1F1F1F"/>
                </a:solidFill>
              </a:rPr>
              <a:t>output</a:t>
            </a:r>
            <a:r>
              <a:rPr lang="es-MX" sz="1000" dirty="0">
                <a:solidFill>
                  <a:srgbClr val="1F1F1F"/>
                </a:solidFill>
              </a:rPr>
              <a:t> = interfaz; </a:t>
            </a:r>
            <a:r>
              <a:rPr lang="es-MX" sz="1000" b="1" dirty="0">
                <a:solidFill>
                  <a:srgbClr val="1F1F1F"/>
                </a:solidFill>
              </a:rPr>
              <a:t>criterios </a:t>
            </a:r>
            <a:r>
              <a:rPr lang="es-MX" sz="1000" dirty="0">
                <a:solidFill>
                  <a:srgbClr val="1F1F1F"/>
                </a:solidFill>
              </a:rPr>
              <a:t>= aceptación.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Recomendación: </a:t>
            </a:r>
            <a:r>
              <a:rPr lang="es-MX" sz="1000" dirty="0">
                <a:solidFill>
                  <a:srgbClr val="1F1F1F"/>
                </a:solidFill>
              </a:rPr>
              <a:t>construir </a:t>
            </a:r>
            <a:r>
              <a:rPr lang="es-MX" sz="1000" dirty="0">
                <a:solidFill>
                  <a:srgbClr val="1F1F1F"/>
                </a:solidFill>
                <a:highlight>
                  <a:srgbClr val="FFFF00"/>
                </a:highlight>
              </a:rPr>
              <a:t>una librería de plantillas </a:t>
            </a:r>
            <a:r>
              <a:rPr lang="es-MX" sz="1000" dirty="0">
                <a:solidFill>
                  <a:srgbClr val="1F1F1F"/>
                </a:solidFill>
              </a:rPr>
              <a:t>por tarea (correos, análisis, resúmenes, tablas).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CO" sz="1000" b="1" dirty="0"/>
              <a:t>Plantilla fija, variables controladas</a:t>
            </a:r>
            <a:r>
              <a:rPr lang="es-CO" sz="1000" dirty="0"/>
              <a:t>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1F1F1F"/>
                </a:solidFill>
              </a:rPr>
              <a:t>La lógica de </a:t>
            </a:r>
            <a:r>
              <a:rPr lang="es-MX" sz="1000" b="1" dirty="0" err="1">
                <a:solidFill>
                  <a:srgbClr val="1F1F1F"/>
                </a:solidFill>
              </a:rPr>
              <a:t>debugging</a:t>
            </a:r>
            <a:r>
              <a:rPr lang="es-MX" sz="1000" dirty="0">
                <a:solidFill>
                  <a:srgbClr val="1F1F1F"/>
                </a:solidFill>
              </a:rPr>
              <a:t>: cuando algo falla, no se cambia todo; se ajustan variables.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4F2A837-AE63-7552-E6FA-BED79AC19944}"/>
              </a:ext>
            </a:extLst>
          </p:cNvPr>
          <p:cNvCxnSpPr>
            <a:cxnSpLocks/>
          </p:cNvCxnSpPr>
          <p:nvPr/>
        </p:nvCxnSpPr>
        <p:spPr>
          <a:xfrm>
            <a:off x="4987143" y="1854426"/>
            <a:ext cx="0" cy="23849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3CBF103-873A-DD14-3479-CE36C9DF19EF}"/>
              </a:ext>
            </a:extLst>
          </p:cNvPr>
          <p:cNvSpPr txBox="1"/>
          <p:nvPr/>
        </p:nvSpPr>
        <p:spPr>
          <a:xfrm>
            <a:off x="444866" y="3815341"/>
            <a:ext cx="320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Qué se espera</a:t>
            </a:r>
            <a:endParaRPr lang="es-CO" sz="1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455D62-D86E-226C-5984-8E4E376C2D1C}"/>
              </a:ext>
            </a:extLst>
          </p:cNvPr>
          <p:cNvSpPr txBox="1"/>
          <p:nvPr/>
        </p:nvSpPr>
        <p:spPr>
          <a:xfrm>
            <a:off x="415143" y="1352548"/>
            <a:ext cx="4156857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s-MX" sz="1000" b="0" dirty="0"/>
              <a:t>Plantilla base reutilizable: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s-MX" sz="1000" dirty="0"/>
              <a:t>Rol / Objetivo / Contexto / Datos / Restricciones / Formato / Criterios.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s-MX" sz="1000" dirty="0" err="1"/>
              <a:t>Debugging</a:t>
            </a:r>
            <a:r>
              <a:rPr lang="es-MX" sz="1000" dirty="0"/>
              <a:t>: </a:t>
            </a:r>
            <a:r>
              <a:rPr lang="es-MX" sz="1000" b="0" dirty="0"/>
              <a:t>cambia una variable a la vez (no todo).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s-MX" sz="1000" dirty="0"/>
              <a:t>Errores comunes: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Pedir demasiado en un solo </a:t>
            </a:r>
            <a:r>
              <a:rPr lang="es-MX" sz="1000" b="0" dirty="0" err="1"/>
              <a:t>prompt</a:t>
            </a:r>
            <a:endParaRPr lang="es-MX" sz="1000" b="0" dirty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No definir formato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No delimitar datos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No incluir criterios de calidad</a:t>
            </a:r>
          </a:p>
        </p:txBody>
      </p:sp>
    </p:spTree>
    <p:extLst>
      <p:ext uri="{BB962C8B-B14F-4D97-AF65-F5344CB8AC3E}">
        <p14:creationId xmlns:p14="http://schemas.microsoft.com/office/powerpoint/2010/main" val="1339719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3CC8-9372-DD47-A5E6-621D92C9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3312510-DC89-7383-72DA-BCC7A58D8282}"/>
              </a:ext>
            </a:extLst>
          </p:cNvPr>
          <p:cNvSpPr>
            <a:spLocks/>
          </p:cNvSpPr>
          <p:nvPr/>
        </p:nvSpPr>
        <p:spPr>
          <a:xfrm>
            <a:off x="340482" y="1508224"/>
            <a:ext cx="4974467" cy="3251198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589BB3-996F-EE44-D08C-8D67E4BB7B72}"/>
              </a:ext>
            </a:extLst>
          </p:cNvPr>
          <p:cNvSpPr txBox="1"/>
          <p:nvPr/>
        </p:nvSpPr>
        <p:spPr>
          <a:xfrm>
            <a:off x="479668" y="1675210"/>
            <a:ext cx="46556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Caso de uso: 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El equipo de soporte necesita estandarizar la clasificación inicial de tickets para que la salida pueda pasar por un filtro del pipeline del CRM.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i="0" u="none" strike="noStrike" dirty="0">
                <a:solidFill>
                  <a:srgbClr val="1F1F1F"/>
                </a:solidFill>
                <a:effectLst/>
              </a:rPr>
              <a:t>Situación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Hoy los agentes escriben </a:t>
            </a:r>
            <a:r>
              <a:rPr lang="es-MX" sz="1000" i="0" u="none" strike="noStrike" dirty="0" err="1">
                <a:solidFill>
                  <a:srgbClr val="1F1F1F"/>
                </a:solidFill>
                <a:effectLst/>
              </a:rPr>
              <a:t>prompts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 distintos para resumir o clasificar casos: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</a:t>
            </a: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nos describen demasiado, otros omiten datos clave, cambian el tono, dejan campos ambiguos.</a:t>
            </a:r>
          </a:p>
          <a:p>
            <a:pPr marL="171450" indent="-1714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sz="1000" i="0" u="none" strike="noStrike" dirty="0">
                <a:solidFill>
                  <a:srgbClr val="1F1F1F"/>
                </a:solidFill>
                <a:effectLst/>
              </a:rPr>
              <a:t>Eso genera problemas :tickets mal categorizados, prioridades inconsistentes, dificultad para automatizar el siguiente paso, más retrabajo en el CRM.</a:t>
            </a:r>
            <a:endParaRPr lang="es-MX" sz="1000" i="1" u="none" strike="noStrike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F3A8E9-E011-B930-EF19-02CF7013706D}"/>
              </a:ext>
            </a:extLst>
          </p:cNvPr>
          <p:cNvSpPr txBox="1"/>
          <p:nvPr/>
        </p:nvSpPr>
        <p:spPr>
          <a:xfrm>
            <a:off x="8258129" y="51357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CU-18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6BBEB62-1846-B8D3-48C9-2D34262A3832}"/>
              </a:ext>
            </a:extLst>
          </p:cNvPr>
          <p:cNvSpPr/>
          <p:nvPr/>
        </p:nvSpPr>
        <p:spPr>
          <a:xfrm>
            <a:off x="476250" y="123178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8D23BBA-2999-4FCC-76CF-9CF1B456D802}"/>
              </a:ext>
            </a:extLst>
          </p:cNvPr>
          <p:cNvSpPr/>
          <p:nvPr/>
        </p:nvSpPr>
        <p:spPr>
          <a:xfrm>
            <a:off x="444866" y="492561"/>
            <a:ext cx="6233520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Atención al cliente con variables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43817F-DC5E-6498-703F-99386BCB2304}"/>
              </a:ext>
            </a:extLst>
          </p:cNvPr>
          <p:cNvSpPr txBox="1"/>
          <p:nvPr/>
        </p:nvSpPr>
        <p:spPr>
          <a:xfrm>
            <a:off x="1106526" y="123178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EDD2FE-28CF-2C7A-0B29-072A347EA35D}"/>
              </a:ext>
            </a:extLst>
          </p:cNvPr>
          <p:cNvSpPr txBox="1"/>
          <p:nvPr/>
        </p:nvSpPr>
        <p:spPr>
          <a:xfrm>
            <a:off x="5525646" y="1378782"/>
            <a:ext cx="3277871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Objetivos a cumplir: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Usar una plantilla reutilizable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Cambiar solo variables del caso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Generar una salida estructurada y consistente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Facilitar </a:t>
            </a:r>
            <a:r>
              <a:rPr lang="es-MX" sz="1000" dirty="0" err="1">
                <a:solidFill>
                  <a:srgbClr val="1F1F1F"/>
                </a:solidFill>
              </a:rPr>
              <a:t>debugging</a:t>
            </a:r>
            <a:r>
              <a:rPr lang="es-MX" sz="1000" dirty="0">
                <a:solidFill>
                  <a:srgbClr val="1F1F1F"/>
                </a:solidFill>
              </a:rPr>
              <a:t> sin rehacer todo el </a:t>
            </a:r>
            <a:r>
              <a:rPr lang="es-MX" sz="1000" dirty="0" err="1">
                <a:solidFill>
                  <a:srgbClr val="1F1F1F"/>
                </a:solidFill>
              </a:rPr>
              <a:t>prompt</a:t>
            </a:r>
            <a:endParaRPr lang="es-MX" sz="1000" dirty="0">
              <a:solidFill>
                <a:srgbClr val="1F1F1F"/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Dejar la salida lista para un filtro del pipeline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C0A6BB3-EED6-E418-D741-5EEB14A422D0}"/>
              </a:ext>
            </a:extLst>
          </p:cNvPr>
          <p:cNvSpPr txBox="1"/>
          <p:nvPr/>
        </p:nvSpPr>
        <p:spPr>
          <a:xfrm>
            <a:off x="5525645" y="2909437"/>
            <a:ext cx="3277871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b="1" dirty="0">
                <a:solidFill>
                  <a:srgbClr val="1F1F1F"/>
                </a:solidFill>
              </a:rPr>
              <a:t>Qué se espera que pase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Misma estructura de salida entre agentes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Clasificación más consistente, menos variación en el resumen del caso.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Mayor facilidad para detectar qué variable afecta el resultado.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1F1F1F"/>
                </a:solidFill>
              </a:rPr>
              <a:t>Salida lista para revisar y cargar al CRM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0313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508B-1C69-27FD-6AB5-F66C9428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6F0A8D8-072B-5548-D839-2187C8DE2D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11308E94-E413-9080-0EF6-8C6EA69BF71C}"/>
              </a:ext>
            </a:extLst>
          </p:cNvPr>
          <p:cNvSpPr/>
          <p:nvPr/>
        </p:nvSpPr>
        <p:spPr>
          <a:xfrm>
            <a:off x="444866" y="105760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3ACEC277-6E76-33E6-1888-112F5911D6D8}"/>
              </a:ext>
            </a:extLst>
          </p:cNvPr>
          <p:cNvSpPr/>
          <p:nvPr/>
        </p:nvSpPr>
        <p:spPr>
          <a:xfrm>
            <a:off x="381745" y="431936"/>
            <a:ext cx="8347112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Hacks</a:t>
            </a: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/</a:t>
            </a:r>
            <a:r>
              <a:rPr lang="es-MX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Tips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1310DD-2E65-663E-3F17-ADFA58B914D6}"/>
              </a:ext>
            </a:extLst>
          </p:cNvPr>
          <p:cNvSpPr txBox="1"/>
          <p:nvPr/>
        </p:nvSpPr>
        <p:spPr>
          <a:xfrm>
            <a:off x="1106526" y="114469"/>
            <a:ext cx="2646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Cómo pedirle bien a </a:t>
            </a:r>
            <a:r>
              <a:rPr lang="es-MX" sz="1000" dirty="0" err="1">
                <a:latin typeface="+mj-lt"/>
              </a:rPr>
              <a:t>ChatGPT</a:t>
            </a:r>
            <a:r>
              <a:rPr lang="es-MX" sz="1000" dirty="0">
                <a:latin typeface="+mj-lt"/>
              </a:rPr>
              <a:t> (</a:t>
            </a:r>
            <a:r>
              <a:rPr lang="es-MX" sz="1000" dirty="0" err="1">
                <a:latin typeface="+mj-lt"/>
              </a:rPr>
              <a:t>prompts</a:t>
            </a:r>
            <a:r>
              <a:rPr lang="es-MX" sz="1000" dirty="0">
                <a:latin typeface="+mj-lt"/>
              </a:rPr>
              <a:t>)</a:t>
            </a:r>
            <a:endParaRPr lang="es-CO" sz="1200" dirty="0"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52826E-EE72-78ED-EC42-84BC899ACFB8}"/>
              </a:ext>
            </a:extLst>
          </p:cNvPr>
          <p:cNvSpPr txBox="1"/>
          <p:nvPr/>
        </p:nvSpPr>
        <p:spPr>
          <a:xfrm>
            <a:off x="415144" y="1352548"/>
            <a:ext cx="8136674" cy="3400931"/>
          </a:xfrm>
          <a:prstGeom prst="rect">
            <a:avLst/>
          </a:prstGeom>
          <a:noFill/>
        </p:spPr>
        <p:txBody>
          <a:bodyPr wrap="square" numCol="2" spcCol="720000">
            <a:spAutoFit/>
          </a:bodyPr>
          <a:lstStyle>
            <a:defPPr>
              <a:defRPr lang="es-ES"/>
            </a:defPPr>
            <a:lvl1pPr>
              <a:lnSpc>
                <a:spcPct val="150000"/>
              </a:lnSpc>
              <a:defRPr sz="1200" b="1" i="0" u="none" strike="noStrike">
                <a:solidFill>
                  <a:srgbClr val="1F1F1F"/>
                </a:solidFill>
                <a:effectLst/>
              </a:defRPr>
            </a:lvl1pPr>
          </a:lstStyle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No saturar el </a:t>
            </a:r>
            <a:r>
              <a:rPr lang="es-MX" sz="1000" dirty="0" err="1"/>
              <a:t>prompt</a:t>
            </a:r>
            <a:r>
              <a:rPr lang="es-MX" sz="1000" b="0" dirty="0"/>
              <a:t>: dividir por partes (</a:t>
            </a:r>
            <a:r>
              <a:rPr lang="es-MX" sz="1000" b="0" dirty="0" err="1"/>
              <a:t>chunking</a:t>
            </a:r>
            <a:r>
              <a:rPr lang="es-MX" sz="1000" b="0" dirty="0"/>
              <a:t>) para no perder detalles.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Evitar cambios de rol o roles contradictorios: </a:t>
            </a:r>
            <a:r>
              <a:rPr lang="es-MX" sz="1000" b="0" dirty="0"/>
              <a:t>confunden al modelo.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El modelo prioriza lo último</a:t>
            </a:r>
            <a:r>
              <a:rPr lang="es-MX" sz="1000" b="0" dirty="0"/>
              <a:t>: poner al final reglas, restricciones y formato de salida.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b="0" dirty="0"/>
              <a:t>Usar </a:t>
            </a:r>
            <a:r>
              <a:rPr lang="es-MX" sz="1000" dirty="0"/>
              <a:t>MAYÚSCULAS</a:t>
            </a:r>
            <a:r>
              <a:rPr lang="es-MX" sz="1000" b="0" dirty="0"/>
              <a:t>, puntuación, numeración y delimitadores para reforzar instrucciones y reducir alucinaciones.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Si el chat está largo</a:t>
            </a:r>
            <a:r>
              <a:rPr lang="es-MX" sz="1000" b="0" dirty="0"/>
              <a:t>: abrir uno nuevo y pegar un </a:t>
            </a:r>
            <a:r>
              <a:rPr lang="es-MX" sz="1000" b="0" dirty="0" err="1"/>
              <a:t>brief</a:t>
            </a:r>
            <a:r>
              <a:rPr lang="es-MX" sz="1000" b="0" dirty="0"/>
              <a:t> resumido para evitar pérdidas por ventana de contexto.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MAYÚSCULAS </a:t>
            </a:r>
            <a:r>
              <a:rPr lang="es-MX" sz="1000" b="0" dirty="0"/>
              <a:t>= énfasis para reglas duras, condiciones y estructura final.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s-MX" sz="1000" b="0" dirty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Evitar ambigüedad</a:t>
            </a:r>
            <a:r>
              <a:rPr lang="es-MX" sz="1000" b="0" dirty="0"/>
              <a:t>: definir términos, criterios y expectativas de forma explícita.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Usar etiquetas</a:t>
            </a:r>
            <a:r>
              <a:rPr lang="es-MX" sz="1000" b="0" dirty="0"/>
              <a:t> (XML/secciones) para mantener consistencia y separar contexto/instrucciones/salida.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Cuidar significados culturales</a:t>
            </a:r>
            <a:r>
              <a:rPr lang="es-MX" sz="1000" b="0" dirty="0"/>
              <a:t>: contextualizar palabras y dar ejemplos para anclar interpretación.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Pedir detección de patrones </a:t>
            </a:r>
            <a:r>
              <a:rPr lang="es-MX" sz="1000" b="0" dirty="0"/>
              <a:t>basada en datos/texto para anclar la respuesta y evitar inventos.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Clasificar emociones </a:t>
            </a:r>
            <a:r>
              <a:rPr lang="es-MX" sz="1000" b="0" dirty="0"/>
              <a:t>con categorías/escala para reducir ambigüedad del lenguaje emocional.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000" dirty="0"/>
              <a:t>Definir qué hacer si falta información</a:t>
            </a:r>
            <a:r>
              <a:rPr lang="es-MX" sz="1000" b="0" dirty="0"/>
              <a:t>: “no inventes, pregunta o responde NO DISPONIBLE”.</a:t>
            </a:r>
          </a:p>
        </p:txBody>
      </p:sp>
    </p:spTree>
    <p:extLst>
      <p:ext uri="{BB962C8B-B14F-4D97-AF65-F5344CB8AC3E}">
        <p14:creationId xmlns:p14="http://schemas.microsoft.com/office/powerpoint/2010/main" val="3798194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0820-31AD-9F30-C881-F73737C4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4CF21FE-4137-4460-DA4F-BC5F56EE58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723D6C-E7A0-73EF-09A8-5278716C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1923111"/>
            <a:ext cx="6368089" cy="1297278"/>
          </a:xfrm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Conociendo el </a:t>
            </a:r>
            <a:r>
              <a:rPr lang="es-MX" dirty="0" err="1"/>
              <a:t>Frontend</a:t>
            </a:r>
            <a:r>
              <a:rPr lang="es-MX" dirty="0"/>
              <a:t> de Chat GPT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33D0F6-641E-C9F3-67EC-7977C82132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615123" y="3318222"/>
            <a:ext cx="3913754" cy="528350"/>
          </a:xfr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1000" dirty="0"/>
              <a:t>Objetivo</a:t>
            </a:r>
            <a:r>
              <a:rPr lang="es-MX" sz="1000" b="0" dirty="0"/>
              <a:t>: Conocer y aprender cada una de las funcionalidades de la interfaz de la herramienta.</a:t>
            </a:r>
            <a:endParaRPr lang="es-CO" sz="1000" b="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9FE1DB5-51D0-266D-6DEA-7705F836CB20}"/>
              </a:ext>
            </a:extLst>
          </p:cNvPr>
          <p:cNvSpPr/>
          <p:nvPr/>
        </p:nvSpPr>
        <p:spPr>
          <a:xfrm>
            <a:off x="1817753" y="556550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100339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F51C244-26B1-BCCE-E02E-CF343A9A2C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DBBE08-FEE1-5DB7-896B-6BFFFABA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8087-79DF-33D6-0877-75C70DA3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49E4F3-D878-06D5-CFCC-2A44FE79D9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E5E4AF-18F7-4C85-E65C-B410DC4A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1B018E-7EBA-2324-83B9-8AFC6E19E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3D1CBC8-A8D9-C22D-2985-35F51A978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A2076C2-0A95-3766-6320-570637049DCA}"/>
              </a:ext>
            </a:extLst>
          </p:cNvPr>
          <p:cNvSpPr>
            <a:spLocks/>
          </p:cNvSpPr>
          <p:nvPr/>
        </p:nvSpPr>
        <p:spPr>
          <a:xfrm>
            <a:off x="527669" y="1325670"/>
            <a:ext cx="3737443" cy="293444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A59670-C0ED-A97C-BCF7-610CD10F1EC6}"/>
              </a:ext>
            </a:extLst>
          </p:cNvPr>
          <p:cNvSpPr txBox="1"/>
          <p:nvPr/>
        </p:nvSpPr>
        <p:spPr>
          <a:xfrm>
            <a:off x="640011" y="1514060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Nuevo Chat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4D60D09-9764-9BDA-98D3-A12E044A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04719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4A6DA72-92E8-76C8-A770-682BE4845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790543"/>
            <a:ext cx="3327607" cy="297517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Inicia una conversación desde cero.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EEFEB1-8218-3B44-BA98-A06C1EC3F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451152"/>
            <a:ext cx="3327607" cy="1708160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Hacer una pregunta nueva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Empezar una tarea diferente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Evitar que </a:t>
            </a:r>
            <a:r>
              <a:rPr lang="es-MX" sz="1000" dirty="0" err="1"/>
              <a:t>ChatGPT</a:t>
            </a:r>
            <a:r>
              <a:rPr lang="es-MX" sz="1000" dirty="0"/>
              <a:t> se confunda con temas anteriores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None/>
            </a:pPr>
            <a:r>
              <a:rPr lang="es-MX" sz="1000" dirty="0"/>
              <a:t>👉 </a:t>
            </a:r>
            <a:r>
              <a:rPr lang="es-MX" sz="1000" i="1" dirty="0"/>
              <a:t>Úsalo cuando cambies de tema o quieras empezar “en limpio”</a:t>
            </a:r>
            <a:r>
              <a:rPr lang="es-MX" sz="1000" dirty="0"/>
              <a:t>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450A75C-0082-C44A-0282-51324A5EA77B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BFED31-9783-DE5D-4C87-74AB24653BD8}"/>
              </a:ext>
            </a:extLst>
          </p:cNvPr>
          <p:cNvSpPr txBox="1"/>
          <p:nvPr/>
        </p:nvSpPr>
        <p:spPr>
          <a:xfrm>
            <a:off x="640011" y="2081915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FE79D21-3839-78C9-F52C-EFA786766337}"/>
              </a:ext>
            </a:extLst>
          </p:cNvPr>
          <p:cNvSpPr>
            <a:spLocks/>
          </p:cNvSpPr>
          <p:nvPr/>
        </p:nvSpPr>
        <p:spPr>
          <a:xfrm>
            <a:off x="4878888" y="1325670"/>
            <a:ext cx="3737443" cy="293444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0A62B4-60A0-26C1-A827-FE47D352509E}"/>
              </a:ext>
            </a:extLst>
          </p:cNvPr>
          <p:cNvSpPr txBox="1"/>
          <p:nvPr/>
        </p:nvSpPr>
        <p:spPr>
          <a:xfrm>
            <a:off x="4991229" y="1514060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Buscar chats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6AB4294F-9532-962E-3BA1-05F20032C2E5}"/>
              </a:ext>
            </a:extLst>
          </p:cNvPr>
          <p:cNvSpPr txBox="1">
            <a:spLocks/>
          </p:cNvSpPr>
          <p:nvPr/>
        </p:nvSpPr>
        <p:spPr>
          <a:xfrm>
            <a:off x="5085249" y="1790543"/>
            <a:ext cx="3418740" cy="2975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Un buscador de conversaciones anteriores.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2B73F65E-21E0-7294-41BE-93C3BC38ED7B}"/>
              </a:ext>
            </a:extLst>
          </p:cNvPr>
          <p:cNvSpPr txBox="1">
            <a:spLocks/>
          </p:cNvSpPr>
          <p:nvPr/>
        </p:nvSpPr>
        <p:spPr>
          <a:xfrm>
            <a:off x="5085249" y="2439345"/>
            <a:ext cx="3324721" cy="152862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</a:pPr>
            <a:r>
              <a:rPr lang="es-MX" dirty="0"/>
              <a:t>Encontrar un chat viejo</a:t>
            </a:r>
          </a:p>
          <a:p>
            <a:pPr>
              <a:lnSpc>
                <a:spcPct val="150000"/>
              </a:lnSpc>
            </a:pPr>
            <a:r>
              <a:rPr lang="es-MX" dirty="0"/>
              <a:t>Recuperar una respuesta que ya te dieron</a:t>
            </a:r>
          </a:p>
          <a:p>
            <a:pPr>
              <a:lnSpc>
                <a:spcPct val="150000"/>
              </a:lnSpc>
            </a:pPr>
            <a:r>
              <a:rPr lang="es-MX" dirty="0"/>
              <a:t>Volver a un trabajo que estabas haciendo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dirty="0"/>
              <a:t>👉 Ideal si recuerdas “más o menos” el tema pero no dónde quedó.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87F4F-5D4D-1FB5-F662-DF5647D3F2E4}"/>
              </a:ext>
            </a:extLst>
          </p:cNvPr>
          <p:cNvSpPr txBox="1"/>
          <p:nvPr/>
        </p:nvSpPr>
        <p:spPr>
          <a:xfrm>
            <a:off x="4991230" y="2081915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8524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18F-9EA3-41D4-CF2B-65F46C51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868ECE5-FDC3-0089-688E-1DEF6F72271B}"/>
              </a:ext>
            </a:extLst>
          </p:cNvPr>
          <p:cNvSpPr>
            <a:spLocks/>
          </p:cNvSpPr>
          <p:nvPr/>
        </p:nvSpPr>
        <p:spPr>
          <a:xfrm>
            <a:off x="527669" y="1226433"/>
            <a:ext cx="3737443" cy="2962795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4ACA76-3331-2FFC-5C55-64CA11BC84F8}"/>
              </a:ext>
            </a:extLst>
          </p:cNvPr>
          <p:cNvSpPr txBox="1"/>
          <p:nvPr/>
        </p:nvSpPr>
        <p:spPr>
          <a:xfrm>
            <a:off x="640011" y="1325670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Biblioteca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E976482-120F-AB7D-23AB-DB0A34FC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33072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F8AF5E5-F8E6-E7EE-890C-D56E7F78B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602153"/>
            <a:ext cx="3327607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Un espacio donde se guardan contenidos útiles generados o guardados.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E6D3FB-C0BC-3734-0574-1425B0BDD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497269"/>
            <a:ext cx="3327607" cy="1528624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Reutilizar ideas, textos o recursos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Acceder a materiales guardados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Tener referencias sin volver a preguntar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CO" sz="1000" dirty="0"/>
              <a:t>👉 Funciona como una “carpeta personal” dentro de </a:t>
            </a:r>
            <a:r>
              <a:rPr lang="es-CO" sz="1000" dirty="0" err="1"/>
              <a:t>ChatGPT</a:t>
            </a:r>
            <a:endParaRPr lang="es-CO" sz="1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B1D8A3F-D26A-B056-CD81-A4382CBCB000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BBB87A-ED2B-8CD8-5723-645B8D7ED9BD}"/>
              </a:ext>
            </a:extLst>
          </p:cNvPr>
          <p:cNvSpPr txBox="1"/>
          <p:nvPr/>
        </p:nvSpPr>
        <p:spPr>
          <a:xfrm>
            <a:off x="640011" y="2128032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DDC7F4E-E154-E8CF-C8AD-DC4907CC76A8}"/>
              </a:ext>
            </a:extLst>
          </p:cNvPr>
          <p:cNvSpPr>
            <a:spLocks/>
          </p:cNvSpPr>
          <p:nvPr/>
        </p:nvSpPr>
        <p:spPr>
          <a:xfrm>
            <a:off x="4878888" y="1226433"/>
            <a:ext cx="3737443" cy="2962795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DD79256-1382-2275-65FA-281C1D11B7AC}"/>
              </a:ext>
            </a:extLst>
          </p:cNvPr>
          <p:cNvSpPr txBox="1"/>
          <p:nvPr/>
        </p:nvSpPr>
        <p:spPr>
          <a:xfrm>
            <a:off x="4991229" y="1325670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Aplicaciones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D888217D-9D61-35B0-C103-E8173DE13A12}"/>
              </a:ext>
            </a:extLst>
          </p:cNvPr>
          <p:cNvSpPr txBox="1">
            <a:spLocks/>
          </p:cNvSpPr>
          <p:nvPr/>
        </p:nvSpPr>
        <p:spPr>
          <a:xfrm>
            <a:off x="5085249" y="1602153"/>
            <a:ext cx="3418740" cy="2975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Acceso a herramientas especiales dentro de </a:t>
            </a:r>
            <a:r>
              <a:rPr lang="es-MX" sz="1000" dirty="0" err="1"/>
              <a:t>ChatGPT</a:t>
            </a:r>
            <a:r>
              <a:rPr lang="es-MX" sz="1000" dirty="0"/>
              <a:t>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84BB0508-2609-594C-B2A8-96CC623962DD}"/>
              </a:ext>
            </a:extLst>
          </p:cNvPr>
          <p:cNvSpPr txBox="1">
            <a:spLocks/>
          </p:cNvSpPr>
          <p:nvPr/>
        </p:nvSpPr>
        <p:spPr>
          <a:xfrm>
            <a:off x="5085249" y="2250955"/>
            <a:ext cx="3324721" cy="16568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dirty="0"/>
              <a:t>Usar funciones avanzadas (ej. análisis, creación de imágenes, archivos, etc.)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dirty="0"/>
              <a:t>Resolver tareas más complejas que solo escribir texto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MX" dirty="0"/>
              <a:t>👉 </a:t>
            </a:r>
            <a:r>
              <a:rPr lang="es-MX" i="1" dirty="0"/>
              <a:t>Aquí </a:t>
            </a:r>
            <a:r>
              <a:rPr lang="es-MX" i="1" dirty="0" err="1"/>
              <a:t>ChatGPT</a:t>
            </a:r>
            <a:r>
              <a:rPr lang="es-MX" i="1" dirty="0"/>
              <a:t> deja de ser solo “chat” y se vuelve una herramienta de trabajo</a:t>
            </a:r>
            <a:r>
              <a:rPr lang="es-MX" dirty="0"/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916DC3-B906-EBF7-C936-C52C31949017}"/>
              </a:ext>
            </a:extLst>
          </p:cNvPr>
          <p:cNvSpPr txBox="1"/>
          <p:nvPr/>
        </p:nvSpPr>
        <p:spPr>
          <a:xfrm>
            <a:off x="4991230" y="1893525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5091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0AD7-9C92-60A2-9CB6-31CCFDEF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ECA8B0-1FC6-278B-A723-4ED635DB4D24}"/>
              </a:ext>
            </a:extLst>
          </p:cNvPr>
          <p:cNvSpPr>
            <a:spLocks/>
          </p:cNvSpPr>
          <p:nvPr/>
        </p:nvSpPr>
        <p:spPr>
          <a:xfrm>
            <a:off x="527669" y="1226433"/>
            <a:ext cx="3737443" cy="3395186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5C3987-BC04-2539-38C8-1A411574BAE0}"/>
              </a:ext>
            </a:extLst>
          </p:cNvPr>
          <p:cNvSpPr txBox="1"/>
          <p:nvPr/>
        </p:nvSpPr>
        <p:spPr>
          <a:xfrm>
            <a:off x="640011" y="1325670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Codex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040132C-5FCE-A3DE-9046-A047CF08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33072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162FE3-44BC-D985-2CBF-0E1C36B10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602153"/>
            <a:ext cx="3327607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Un espacio orientado a tareas técnicas y de programación.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C338DE4-8E53-32D6-6EDD-F4B596629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497269"/>
            <a:ext cx="3327607" cy="1528624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Reutilizar ideas, textos o recursos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Acceder a materiales guardados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Tener referencias sin volver a preguntar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CO" sz="1000" dirty="0"/>
              <a:t>👉 Funciona como una “carpeta personal” dentro de </a:t>
            </a:r>
            <a:r>
              <a:rPr lang="es-CO" sz="1000" dirty="0" err="1"/>
              <a:t>ChatGPT</a:t>
            </a:r>
            <a:endParaRPr lang="es-CO" sz="1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7EFDD2D-8E6B-1742-C78A-18282987DB12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6C2FD22-5670-D2C9-170D-F48AB7B3C149}"/>
              </a:ext>
            </a:extLst>
          </p:cNvPr>
          <p:cNvSpPr txBox="1"/>
          <p:nvPr/>
        </p:nvSpPr>
        <p:spPr>
          <a:xfrm>
            <a:off x="640011" y="2128032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BCBD572-0FB8-1740-1AF3-F249CD170363}"/>
              </a:ext>
            </a:extLst>
          </p:cNvPr>
          <p:cNvSpPr>
            <a:spLocks/>
          </p:cNvSpPr>
          <p:nvPr/>
        </p:nvSpPr>
        <p:spPr>
          <a:xfrm>
            <a:off x="4878888" y="1226433"/>
            <a:ext cx="3737443" cy="3395186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8B43D6-25C8-1920-C574-3D7E59B197E0}"/>
              </a:ext>
            </a:extLst>
          </p:cNvPr>
          <p:cNvSpPr txBox="1"/>
          <p:nvPr/>
        </p:nvSpPr>
        <p:spPr>
          <a:xfrm>
            <a:off x="4991229" y="1325670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Deep </a:t>
            </a:r>
            <a:r>
              <a:rPr lang="es-MX" sz="1200" b="1" i="0" u="none" strike="noStrike" dirty="0" err="1">
                <a:solidFill>
                  <a:srgbClr val="1F1F1F"/>
                </a:solidFill>
                <a:effectLst/>
                <a:latin typeface="+mj-lt"/>
              </a:rPr>
              <a:t>research</a:t>
            </a: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 (Investigación profunda)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3D038E46-F5B5-7139-41B6-3114D4E5E06F}"/>
              </a:ext>
            </a:extLst>
          </p:cNvPr>
          <p:cNvSpPr txBox="1">
            <a:spLocks/>
          </p:cNvSpPr>
          <p:nvPr/>
        </p:nvSpPr>
        <p:spPr>
          <a:xfrm>
            <a:off x="5085249" y="1763882"/>
            <a:ext cx="3418740" cy="99001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Es una función especial de </a:t>
            </a:r>
            <a:r>
              <a:rPr lang="es-MX" sz="1000" dirty="0" err="1"/>
              <a:t>ChatGPT</a:t>
            </a:r>
            <a:r>
              <a:rPr lang="es-MX" sz="1000" dirty="0"/>
              <a:t> para investigar un tema en profundidad, usando fuentes externas, comparando información y entregando un informe más elaborado.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A4092195-6973-06EC-ECD7-75FBA08ADB59}"/>
              </a:ext>
            </a:extLst>
          </p:cNvPr>
          <p:cNvSpPr txBox="1">
            <a:spLocks/>
          </p:cNvSpPr>
          <p:nvPr/>
        </p:nvSpPr>
        <p:spPr>
          <a:xfrm>
            <a:off x="5085249" y="3130212"/>
            <a:ext cx="2265393" cy="5283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MX" dirty="0"/>
              <a:t>👉 No es un chat normal. Es más parecido a decir: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0585A7-E3EC-8BE2-1123-D7CBB1034BF5}"/>
              </a:ext>
            </a:extLst>
          </p:cNvPr>
          <p:cNvSpPr txBox="1"/>
          <p:nvPr/>
        </p:nvSpPr>
        <p:spPr>
          <a:xfrm>
            <a:off x="4991230" y="2790006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F28BCCC-A7AD-4F26-BA4B-F3290D2E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674" y="3060941"/>
            <a:ext cx="1712326" cy="2082559"/>
          </a:xfrm>
          <a:prstGeom prst="rect">
            <a:avLst/>
          </a:prstGeom>
        </p:spPr>
      </p:pic>
      <p:sp>
        <p:nvSpPr>
          <p:cNvPr id="16" name="Marcador de contenido 5">
            <a:extLst>
              <a:ext uri="{FF2B5EF4-FFF2-40B4-BE49-F238E27FC236}">
                <a16:creationId xmlns:a16="http://schemas.microsoft.com/office/drawing/2014/main" id="{7ED94BE3-5C35-1F3D-05A9-E45C5BA2CFA7}"/>
              </a:ext>
            </a:extLst>
          </p:cNvPr>
          <p:cNvSpPr txBox="1">
            <a:spLocks/>
          </p:cNvSpPr>
          <p:nvPr/>
        </p:nvSpPr>
        <p:spPr>
          <a:xfrm>
            <a:off x="5022585" y="3838045"/>
            <a:ext cx="2265393" cy="5283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MX" b="1" i="1" dirty="0"/>
              <a:t>“Investiga esto bien y entrégame un reporte de…”.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8ABD6E2-862E-F704-AA13-2AAE6107625A}"/>
              </a:ext>
            </a:extLst>
          </p:cNvPr>
          <p:cNvSpPr/>
          <p:nvPr/>
        </p:nvSpPr>
        <p:spPr>
          <a:xfrm>
            <a:off x="7215963" y="4515293"/>
            <a:ext cx="1481400" cy="297517"/>
          </a:xfrm>
          <a:prstGeom prst="rect">
            <a:avLst/>
          </a:prstGeom>
          <a:solidFill>
            <a:srgbClr val="F78C3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5483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00A58CBE-0F58-A752-8272-121B8022433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76200"/>
            <a:ext cx="4929188" cy="498633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4EBB10-7282-B3F8-F351-AF74252D1D5B}"/>
              </a:ext>
            </a:extLst>
          </p:cNvPr>
          <p:cNvSpPr/>
          <p:nvPr/>
        </p:nvSpPr>
        <p:spPr>
          <a:xfrm>
            <a:off x="3393282" y="379476"/>
            <a:ext cx="2352675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4</a:t>
            </a:r>
            <a:endParaRPr lang="en-US" sz="36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9F1F20-3DA9-7048-1B48-606013D0F7C5}"/>
              </a:ext>
            </a:extLst>
          </p:cNvPr>
          <p:cNvSpPr/>
          <p:nvPr/>
        </p:nvSpPr>
        <p:spPr>
          <a:xfrm>
            <a:off x="3712369" y="205928"/>
            <a:ext cx="171450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87"/>
              </a:lnSpc>
              <a:buNone/>
            </a:pP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vamos a </a:t>
            </a:r>
            <a:r>
              <a:rPr lang="en-US" sz="9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hacer</a:t>
            </a: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9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en</a:t>
            </a: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9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el</a:t>
            </a:r>
            <a:r>
              <a:rPr lang="en-US" sz="90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</a:t>
            </a:r>
            <a:endParaRPr lang="en-US" sz="9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848F2C-E712-F276-5856-428CA6950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41864" y="1082207"/>
            <a:ext cx="4236441" cy="385536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 dirty="0">
              <a:ln w="12700">
                <a:solidFill>
                  <a:schemeClr val="accent1"/>
                </a:solidFill>
              </a:ln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079D99-0E2F-A9D3-EF3C-24F4753EE507}"/>
              </a:ext>
            </a:extLst>
          </p:cNvPr>
          <p:cNvSpPr/>
          <p:nvPr/>
        </p:nvSpPr>
        <p:spPr>
          <a:xfrm>
            <a:off x="3018743" y="1099999"/>
            <a:ext cx="2105025" cy="23431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47D895-DCF0-6AF0-96AA-FC2460B6325D}"/>
              </a:ext>
            </a:extLst>
          </p:cNvPr>
          <p:cNvSpPr/>
          <p:nvPr/>
        </p:nvSpPr>
        <p:spPr>
          <a:xfrm>
            <a:off x="3094943" y="1214299"/>
            <a:ext cx="1952625" cy="21145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CB80AA-4C00-56F2-505E-B744AA6A60F3}"/>
              </a:ext>
            </a:extLst>
          </p:cNvPr>
          <p:cNvSpPr/>
          <p:nvPr/>
        </p:nvSpPr>
        <p:spPr>
          <a:xfrm>
            <a:off x="3732506" y="1214299"/>
            <a:ext cx="1952625" cy="2809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FF2250-3448-69DC-A255-8494A1BF7617}"/>
              </a:ext>
            </a:extLst>
          </p:cNvPr>
          <p:cNvSpPr/>
          <p:nvPr/>
        </p:nvSpPr>
        <p:spPr>
          <a:xfrm>
            <a:off x="3732506" y="1214299"/>
            <a:ext cx="1952625" cy="80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D2E7281-0FE6-B23F-528F-95A3CB19C574}"/>
              </a:ext>
            </a:extLst>
          </p:cNvPr>
          <p:cNvSpPr/>
          <p:nvPr/>
        </p:nvSpPr>
        <p:spPr>
          <a:xfrm>
            <a:off x="2749576" y="3084940"/>
            <a:ext cx="3816617" cy="43537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Vamos a entrar en la configuración y creación de proyectos para el uso profesional de la herramienta.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4E88BB-1B62-AE8B-C0C4-CE65289856B5}"/>
              </a:ext>
            </a:extLst>
          </p:cNvPr>
          <p:cNvSpPr/>
          <p:nvPr/>
        </p:nvSpPr>
        <p:spPr>
          <a:xfrm>
            <a:off x="2742587" y="1242789"/>
            <a:ext cx="3823605" cy="31021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1780"/>
              </a:lnSpc>
              <a:buNone/>
            </a:pP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14D462C-29E7-9281-E93C-9BD28FD7C21E}"/>
              </a:ext>
            </a:extLst>
          </p:cNvPr>
          <p:cNvSpPr/>
          <p:nvPr/>
        </p:nvSpPr>
        <p:spPr>
          <a:xfrm>
            <a:off x="2742588" y="2714222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Crear Proyectos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E1867A-46B2-5E03-DA63-16467D614A29}"/>
              </a:ext>
            </a:extLst>
          </p:cNvPr>
          <p:cNvSpPr/>
          <p:nvPr/>
        </p:nvSpPr>
        <p:spPr>
          <a:xfrm>
            <a:off x="2742588" y="4549754"/>
            <a:ext cx="2711034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Sesión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preguntas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(10 Min)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C55F294-482B-7E4F-6051-E18D591615DA}"/>
              </a:ext>
            </a:extLst>
          </p:cNvPr>
          <p:cNvSpPr/>
          <p:nvPr/>
        </p:nvSpPr>
        <p:spPr>
          <a:xfrm>
            <a:off x="2749576" y="4002707"/>
            <a:ext cx="3816617" cy="43537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Vamos a hacer uso de un </a:t>
            </a:r>
            <a:r>
              <a:rPr lang="es-MX" sz="90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GPT creado 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para entender como funciona la herramienta y cuales son sus posibles casos de uso.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BDED634-B2AA-32C7-A2F3-66072767C8FA}"/>
              </a:ext>
            </a:extLst>
          </p:cNvPr>
          <p:cNvSpPr/>
          <p:nvPr/>
        </p:nvSpPr>
        <p:spPr>
          <a:xfrm>
            <a:off x="2742588" y="3631989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CO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Utilizar un GPT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E143601-3ACF-7934-08E0-1D359A420009}"/>
              </a:ext>
            </a:extLst>
          </p:cNvPr>
          <p:cNvSpPr/>
          <p:nvPr/>
        </p:nvSpPr>
        <p:spPr>
          <a:xfrm>
            <a:off x="2749576" y="1987637"/>
            <a:ext cx="3816617" cy="614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Conoceremos con ejemplos claros cuales son las capacidades del uso de funcionalidades como Modo Agente, Tu año con Chat GPT, Cuestionarios, estudia y aprende, entre otras.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953E9C91-E692-A5C3-CDFB-BF8065225191}"/>
              </a:ext>
            </a:extLst>
          </p:cNvPr>
          <p:cNvSpPr/>
          <p:nvPr/>
        </p:nvSpPr>
        <p:spPr>
          <a:xfrm>
            <a:off x="2742588" y="1616919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Uso de funcionalidades avanzadas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10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32330" y="2624818"/>
            <a:ext cx="2262187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0"/>
              </a:lnSpc>
              <a:buNone/>
            </a:pPr>
            <a:r>
              <a:rPr lang="en-US" sz="1350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 por participar.</a:t>
            </a:r>
            <a:endParaRPr lang="en-US" sz="135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9563"/>
            <a:ext cx="4173499" cy="433863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71E793-280E-0CCE-B8A4-FD40544F1739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EAD827B-80E8-4E55-FDD8-D9AD8962A39F}"/>
              </a:ext>
            </a:extLst>
          </p:cNvPr>
          <p:cNvSpPr/>
          <p:nvPr/>
        </p:nvSpPr>
        <p:spPr>
          <a:xfrm>
            <a:off x="532330" y="2003286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Preguntas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C23804-B16F-6ACA-7C54-5FADF2D53AE7}"/>
              </a:ext>
            </a:extLst>
          </p:cNvPr>
          <p:cNvSpPr txBox="1"/>
          <p:nvPr/>
        </p:nvSpPr>
        <p:spPr>
          <a:xfrm>
            <a:off x="1106526" y="115483"/>
            <a:ext cx="1662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Conociendo a Chat GPT</a:t>
            </a:r>
            <a:endParaRPr lang="es-CO" sz="1200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AB29C-B95E-A391-22CA-E2E526FE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B6BBCCA-06FC-684D-28C7-C8E71751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57" y="4743450"/>
            <a:ext cx="709179" cy="228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499F122-33E9-CB33-39E7-259C0DD2A2CF}"/>
              </a:ext>
            </a:extLst>
          </p:cNvPr>
          <p:cNvSpPr/>
          <p:nvPr/>
        </p:nvSpPr>
        <p:spPr>
          <a:xfrm>
            <a:off x="2585168" y="2294751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s-MX" sz="3600" b="1" dirty="0">
                <a:solidFill>
                  <a:schemeClr val="bg2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09372294"/>
      </p:ext>
    </p:extLst>
  </p:cSld>
  <p:clrMapOvr>
    <a:masterClrMapping/>
  </p:clrMapOvr>
</p:sld>
</file>

<file path=ppt/theme/theme1.xml><?xml version="1.0" encoding="utf-8"?>
<a:theme xmlns:a="http://schemas.openxmlformats.org/drawingml/2006/main" name="Raona Theme BI - 2025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Roboto - Raona fonts">
      <a:majorFont>
        <a:latin typeface="Roboto Slab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ona Theme BI - 2025" id="{25B7A836-D14B-4489-BE2E-02A5DDBBFD5E}" vid="{F9769439-0EE0-49EF-8ED6-23C44188249B}"/>
    </a:ext>
  </a:extLst>
</a:theme>
</file>

<file path=ppt/theme/theme2.xml><?xml version="1.0" encoding="utf-8"?>
<a:theme xmlns:a="http://schemas.openxmlformats.org/drawingml/2006/main" name="Diseño personalizado">
  <a:themeElements>
    <a:clrScheme name="Colores Raona">
      <a:dk1>
        <a:srgbClr val="161823"/>
      </a:dk1>
      <a:lt1>
        <a:srgbClr val="FFFFFF"/>
      </a:lt1>
      <a:dk2>
        <a:srgbClr val="44546A"/>
      </a:dk2>
      <a:lt2>
        <a:srgbClr val="FFFFFF"/>
      </a:lt2>
      <a:accent1>
        <a:srgbClr val="F78C38"/>
      </a:accent1>
      <a:accent2>
        <a:srgbClr val="00E000"/>
      </a:accent2>
      <a:accent3>
        <a:srgbClr val="FF05CE"/>
      </a:accent3>
      <a:accent4>
        <a:srgbClr val="F9F600"/>
      </a:accent4>
      <a:accent5>
        <a:srgbClr val="00C2F9"/>
      </a:accent5>
      <a:accent6>
        <a:srgbClr val="8620C3"/>
      </a:accent6>
      <a:hlink>
        <a:srgbClr val="F78C38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3.xml><?xml version="1.0" encoding="utf-8"?>
<a:theme xmlns:a="http://schemas.openxmlformats.org/drawingml/2006/main" name="Tema oscuro de Raona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Tipografía Raona">
      <a:majorFont>
        <a:latin typeface="Roboto Slab Medium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acb5d12-1d8f-4d93-9a80-c6221259aedb}" enabled="1" method="Privileged" siteId="{a2927dc6-fd53-4ed2-94f0-7772c3efd74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Raona Theme BI - 2025</Template>
  <TotalTime>4461</TotalTime>
  <Words>4546</Words>
  <Application>Microsoft Office PowerPoint</Application>
  <PresentationFormat>Presentación en pantalla (16:9)</PresentationFormat>
  <Paragraphs>494</Paragraphs>
  <Slides>34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34</vt:i4>
      </vt:variant>
    </vt:vector>
  </HeadingPairs>
  <TitlesOfParts>
    <vt:vector size="44" baseType="lpstr">
      <vt:lpstr>Arial</vt:lpstr>
      <vt:lpstr>Calibri</vt:lpstr>
      <vt:lpstr>Consolas</vt:lpstr>
      <vt:lpstr>Roboto</vt:lpstr>
      <vt:lpstr>Roboto Medium</vt:lpstr>
      <vt:lpstr>Roboto Slab</vt:lpstr>
      <vt:lpstr>Roboto Slab Medium</vt:lpstr>
      <vt:lpstr>Raona Theme BI - 2025</vt:lpstr>
      <vt:lpstr>Diseño personalizado</vt:lpstr>
      <vt:lpstr>Tema oscuro de Raona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 prompts sueltos a flujos de trabajo controlados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Calidad, seguridad y aplicación práctica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Conociendo el Frontend de Chat GPT</vt:lpstr>
      <vt:lpstr>Presentación de PowerPoint</vt:lpstr>
      <vt:lpstr>Presentación de PowerPoint</vt:lpstr>
      <vt:lpstr>Barra lateral</vt:lpstr>
      <vt:lpstr>Barra lateral</vt:lpstr>
      <vt:lpstr>Barra lateral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Yehimy Lulieth Rincón</cp:lastModifiedBy>
  <cp:revision>8</cp:revision>
  <dcterms:created xsi:type="dcterms:W3CDTF">2026-01-25T17:38:04Z</dcterms:created>
  <dcterms:modified xsi:type="dcterms:W3CDTF">2026-03-20T12:32:09Z</dcterms:modified>
</cp:coreProperties>
</file>